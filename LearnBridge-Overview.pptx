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6"/>
        </a:solidFill>
      </p:bgPr>
    </p:bg>
    <p:spTree>
      <p:nvGrpSpPr>
        <p:cNvPr id="1" name=""/>
        <p:cNvGrpSpPr/>
        <p:nvPr/>
      </p:nvGrpSpPr>
      <p:grpSpPr>
        <a:xfrm>
          <a:off x="0" y="0"/>
          <a:ext cx="0" cy="0"/>
          <a:chOff x="0" y="0"/>
          <a:chExt cx="0" cy="0"/>
        </a:xfrm>
      </p:grpSpPr>
      <p:pic>
        <p:nvPicPr>
          <p:cNvPr id="2" name="Image 0" descr="assets/blob.png">    </p:cNvPr>
          <p:cNvPicPr>
            <a:picLocks noChangeAspect="1"/>
          </p:cNvPicPr>
          <p:nvPr/>
        </p:nvPicPr>
        <p:blipFill>
          <a:blip r:embed="rId1"/>
          <a:stretch>
            <a:fillRect/>
          </a:stretch>
        </p:blipFill>
        <p:spPr>
          <a:xfrm>
            <a:off x="7680960" y="-1463040"/>
            <a:ext cx="6400800" cy="6400800"/>
          </a:xfrm>
          <a:prstGeom prst="rect">
            <a:avLst/>
          </a:prstGeom>
        </p:spPr>
      </p:pic>
      <p:pic>
        <p:nvPicPr>
          <p:cNvPr id="3" name="Image 1" descr="assets/blob_blue.png">    </p:cNvPr>
          <p:cNvPicPr>
            <a:picLocks noChangeAspect="1"/>
          </p:cNvPicPr>
          <p:nvPr/>
        </p:nvPicPr>
        <p:blipFill>
          <a:blip r:embed="rId2"/>
          <a:stretch>
            <a:fillRect/>
          </a:stretch>
        </p:blipFill>
        <p:spPr>
          <a:xfrm>
            <a:off x="6217920" y="2468880"/>
            <a:ext cx="5669280" cy="5669280"/>
          </a:xfrm>
          <a:prstGeom prst="rect">
            <a:avLst/>
          </a:prstGeom>
        </p:spPr>
      </p:pic>
      <p:pic>
        <p:nvPicPr>
          <p:cNvPr id="4" name="Image 2" descr="assets/logo_sq.png">    </p:cNvPr>
          <p:cNvPicPr>
            <a:picLocks noChangeAspect="1"/>
          </p:cNvPicPr>
          <p:nvPr/>
        </p:nvPicPr>
        <p:blipFill>
          <a:blip r:embed="rId3"/>
          <a:stretch>
            <a:fillRect/>
          </a:stretch>
        </p:blipFill>
        <p:spPr>
          <a:xfrm>
            <a:off x="640080" y="566928"/>
            <a:ext cx="457200" cy="457200"/>
          </a:xfrm>
          <a:prstGeom prst="rect">
            <a:avLst/>
          </a:prstGeom>
        </p:spPr>
      </p:pic>
      <p:sp>
        <p:nvSpPr>
          <p:cNvPr id="5" name="Text 0"/>
          <p:cNvSpPr/>
          <p:nvPr/>
        </p:nvSpPr>
        <p:spPr>
          <a:xfrm>
            <a:off x="640080" y="56692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L</a:t>
            </a:r>
            <a:endParaRPr lang="en-US" sz="2000" dirty="0"/>
          </a:p>
        </p:txBody>
      </p:sp>
      <p:sp>
        <p:nvSpPr>
          <p:cNvPr id="6" name="Text 1"/>
          <p:cNvSpPr/>
          <p:nvPr/>
        </p:nvSpPr>
        <p:spPr>
          <a:xfrm>
            <a:off x="1207008" y="566928"/>
            <a:ext cx="4572000" cy="457200"/>
          </a:xfrm>
          <a:prstGeom prst="rect">
            <a:avLst/>
          </a:prstGeom>
          <a:noFill/>
          <a:ln/>
        </p:spPr>
        <p:txBody>
          <a:bodyPr wrap="square" lIns="0" tIns="0" rIns="0" bIns="0" rtlCol="0" anchor="ctr"/>
          <a:lstStyle/>
          <a:p>
            <a:pPr indent="0" marL="0">
              <a:buNone/>
            </a:pPr>
            <a:r>
              <a:rPr lang="en-US" sz="1800" b="1" dirty="0">
                <a:solidFill>
                  <a:srgbClr val="FFFFFF"/>
                </a:solidFill>
              </a:rPr>
              <a:t>LearnBridge</a:t>
            </a:r>
            <a:endParaRPr lang="en-US" sz="1800" dirty="0"/>
          </a:p>
        </p:txBody>
      </p:sp>
      <p:sp>
        <p:nvSpPr>
          <p:cNvPr id="7" name="Text 2"/>
          <p:cNvSpPr/>
          <p:nvPr/>
        </p:nvSpPr>
        <p:spPr>
          <a:xfrm>
            <a:off x="640080" y="1874520"/>
            <a:ext cx="5486400" cy="310896"/>
          </a:xfrm>
          <a:prstGeom prst="rect">
            <a:avLst/>
          </a:prstGeom>
          <a:noFill/>
          <a:ln/>
        </p:spPr>
        <p:txBody>
          <a:bodyPr wrap="square" lIns="0" tIns="0" rIns="0" bIns="0" rtlCol="0" anchor="ctr"/>
          <a:lstStyle/>
          <a:p>
            <a:pPr indent="0" marL="0">
              <a:buNone/>
            </a:pPr>
            <a:r>
              <a:rPr lang="en-US" sz="1200" b="1" spc="100" kern="0" dirty="0">
                <a:solidFill>
                  <a:srgbClr val="60A5FA"/>
                </a:solidFill>
              </a:rPr>
              <a:t>Free for every student, everywhere</a:t>
            </a:r>
            <a:endParaRPr lang="en-US" sz="1200" dirty="0"/>
          </a:p>
        </p:txBody>
      </p:sp>
      <p:sp>
        <p:nvSpPr>
          <p:cNvPr id="8" name="Text 3"/>
          <p:cNvSpPr/>
          <p:nvPr/>
        </p:nvSpPr>
        <p:spPr>
          <a:xfrm>
            <a:off x="640080" y="2240280"/>
            <a:ext cx="1024128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Arial" pitchFamily="34" charset="0"/>
                <a:ea typeface="Arial" pitchFamily="34" charset="-122"/>
                <a:cs typeface="Arial" pitchFamily="34" charset="-120"/>
              </a:rPr>
              <a:t>Expert education in </a:t>
            </a:r>
            <a:pPr indent="0" marL="0">
              <a:lnSpc>
                <a:spcPts val="5000"/>
              </a:lnSpc>
              <a:buNone/>
            </a:pPr>
            <a:r>
              <a:rPr lang="en-US" sz="4600" b="1" dirty="0">
                <a:solidFill>
                  <a:srgbClr val="A78BFA"/>
                </a:solidFill>
                <a:latin typeface="Arial" pitchFamily="34" charset="0"/>
                <a:ea typeface="Arial" pitchFamily="34" charset="-122"/>
                <a:cs typeface="Arial" pitchFamily="34" charset="-120"/>
              </a:rPr>
              <a:t>any subject</a:t>
            </a:r>
            <a:pPr indent="0" marL="0">
              <a:lnSpc>
                <a:spcPts val="5000"/>
              </a:lnSpc>
              <a:buNone/>
            </a:pPr>
            <a:r>
              <a:rPr lang="en-US" sz="4600" b="1" dirty="0">
                <a:solidFill>
                  <a:srgbClr val="FFFFFF"/>
                </a:solidFill>
                <a:latin typeface="Arial" pitchFamily="34" charset="0"/>
                <a:ea typeface="Arial" pitchFamily="34" charset="-122"/>
                <a:cs typeface="Arial" pitchFamily="34" charset="-120"/>
              </a:rPr>
              <a:t> —</a:t>
            </a:r>
            <a:endParaRPr lang="en-US" sz="4600" dirty="0"/>
          </a:p>
          <a:p>
            <a:pPr indent="0" marL="0">
              <a:lnSpc>
                <a:spcPts val="5000"/>
              </a:lnSpc>
              <a:buNone/>
            </a:pPr>
            <a:r>
              <a:rPr lang="en-US" sz="4600" b="1" dirty="0">
                <a:solidFill>
                  <a:srgbClr val="C7D2FE"/>
                </a:solidFill>
                <a:latin typeface="Arial" pitchFamily="34" charset="0"/>
                <a:ea typeface="Arial" pitchFamily="34" charset="-122"/>
                <a:cs typeface="Arial" pitchFamily="34" charset="-120"/>
              </a:rPr>
              <a:t>free, in your language.</a:t>
            </a:r>
            <a:endParaRPr lang="en-US" sz="4600" dirty="0"/>
          </a:p>
        </p:txBody>
      </p:sp>
      <p:sp>
        <p:nvSpPr>
          <p:cNvPr id="9" name="Text 4"/>
          <p:cNvSpPr/>
          <p:nvPr/>
        </p:nvSpPr>
        <p:spPr>
          <a:xfrm>
            <a:off x="640080" y="4160520"/>
            <a:ext cx="8229600" cy="457200"/>
          </a:xfrm>
          <a:prstGeom prst="rect">
            <a:avLst/>
          </a:prstGeom>
          <a:noFill/>
          <a:ln/>
        </p:spPr>
        <p:txBody>
          <a:bodyPr wrap="square" lIns="0" tIns="0" rIns="0" bIns="0" rtlCol="0" anchor="ctr"/>
          <a:lstStyle/>
          <a:p>
            <a:pPr indent="0" marL="0">
              <a:buNone/>
            </a:pPr>
            <a:r>
              <a:rPr lang="en-US" sz="2000" i="1" dirty="0">
                <a:solidFill>
                  <a:srgbClr val="E5E7EB"/>
                </a:solidFill>
              </a:rPr>
              <a:t>Talent is universal. Access isn't.</a:t>
            </a:r>
            <a:endParaRPr lang="en-US" sz="2000" dirty="0"/>
          </a:p>
        </p:txBody>
      </p:sp>
      <p:sp>
        <p:nvSpPr>
          <p:cNvPr id="10" name="Text 5"/>
          <p:cNvSpPr/>
          <p:nvPr/>
        </p:nvSpPr>
        <p:spPr>
          <a:xfrm>
            <a:off x="640080" y="4800600"/>
            <a:ext cx="7680960" cy="731520"/>
          </a:xfrm>
          <a:prstGeom prst="rect">
            <a:avLst/>
          </a:prstGeom>
          <a:noFill/>
          <a:ln/>
        </p:spPr>
        <p:txBody>
          <a:bodyPr wrap="square" lIns="0" tIns="0" rIns="0" bIns="0" rtlCol="0" anchor="ctr"/>
          <a:lstStyle/>
          <a:p>
            <a:pPr indent="0" marL="0">
              <a:lnSpc>
                <a:spcPts val="2000"/>
              </a:lnSpc>
              <a:buNone/>
            </a:pPr>
            <a:r>
              <a:rPr lang="en-US" sz="1350" dirty="0">
                <a:solidFill>
                  <a:srgbClr val="9CA3C4"/>
                </a:solidFill>
              </a:rPr>
              <a:t>Quality education is gatekept by geography, wealth, and language. LearnBridge removes all three barriers at once.</a:t>
            </a:r>
            <a:endParaRPr lang="en-US" sz="1350" dirty="0"/>
          </a:p>
        </p:txBody>
      </p:sp>
      <p:sp>
        <p:nvSpPr>
          <p:cNvPr id="11" name="Text 6"/>
          <p:cNvSpPr/>
          <p:nvPr/>
        </p:nvSpPr>
        <p:spPr>
          <a:xfrm>
            <a:off x="640080" y="6217920"/>
            <a:ext cx="7315200" cy="320040"/>
          </a:xfrm>
          <a:prstGeom prst="rect">
            <a:avLst/>
          </a:prstGeom>
          <a:noFill/>
          <a:ln/>
        </p:spPr>
        <p:txBody>
          <a:bodyPr wrap="square" lIns="0" tIns="0" rIns="0" bIns="0" rtlCol="0" anchor="ctr"/>
          <a:lstStyle/>
          <a:p>
            <a:pPr indent="0" marL="0">
              <a:buNone/>
            </a:pPr>
            <a:r>
              <a:rPr lang="en-US" sz="1100" dirty="0">
                <a:solidFill>
                  <a:srgbClr val="7C89B0"/>
                </a:solidFill>
              </a:rPr>
              <a:t>learnbridge.app  ·  Product Overview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THE PROBLEM</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Opportunity isn't equal</a:t>
            </a:r>
            <a:endParaRPr lang="en-US" sz="3200" dirty="0"/>
          </a:p>
        </p:txBody>
      </p:sp>
      <p:sp>
        <p:nvSpPr>
          <p:cNvPr id="5" name="Text 3"/>
          <p:cNvSpPr/>
          <p:nvPr/>
        </p:nvSpPr>
        <p:spPr>
          <a:xfrm>
            <a:off x="640080" y="1691640"/>
            <a:ext cx="10424160" cy="640080"/>
          </a:xfrm>
          <a:prstGeom prst="rect">
            <a:avLst/>
          </a:prstGeom>
          <a:noFill/>
          <a:ln/>
        </p:spPr>
        <p:txBody>
          <a:bodyPr wrap="square" lIns="0" tIns="0" rIns="0" bIns="0" rtlCol="0" anchor="ctr"/>
          <a:lstStyle/>
          <a:p>
            <a:pPr indent="0" marL="0">
              <a:lnSpc>
                <a:spcPts val="2100"/>
              </a:lnSpc>
              <a:buNone/>
            </a:pPr>
            <a:r>
              <a:rPr lang="en-US" sz="1400" dirty="0">
                <a:solidFill>
                  <a:srgbClr val="6B7280"/>
                </a:solidFill>
              </a:rPr>
              <a:t>Where you're born, what your family earns, and the language you speak still decide the quality of education you can reach. Three barriers, stacked on top of each other.</a:t>
            </a:r>
            <a:endParaRPr lang="en-US" sz="1400" dirty="0"/>
          </a:p>
        </p:txBody>
      </p:sp>
      <p:sp>
        <p:nvSpPr>
          <p:cNvPr id="6" name="Shape 4"/>
          <p:cNvSpPr/>
          <p:nvPr/>
        </p:nvSpPr>
        <p:spPr>
          <a:xfrm>
            <a:off x="640080" y="2697480"/>
            <a:ext cx="3392424" cy="2926080"/>
          </a:xfrm>
          <a:prstGeom prst="roundRect">
            <a:avLst>
              <a:gd name="adj" fmla="val 3125"/>
            </a:avLst>
          </a:prstGeom>
          <a:solidFill>
            <a:srgbClr val="F9FAFB"/>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7" name="Shape 5"/>
          <p:cNvSpPr/>
          <p:nvPr/>
        </p:nvSpPr>
        <p:spPr>
          <a:xfrm>
            <a:off x="960120" y="3017520"/>
            <a:ext cx="777240" cy="777240"/>
          </a:xfrm>
          <a:prstGeom prst="roundRect">
            <a:avLst>
              <a:gd name="adj" fmla="val 14118"/>
            </a:avLst>
          </a:prstGeom>
          <a:solidFill>
            <a:srgbClr val="FFFFFF"/>
          </a:solidFill>
          <a:ln w="12700">
            <a:solidFill>
              <a:srgbClr val="E5E7EB"/>
            </a:solidFill>
            <a:prstDash val="solid"/>
          </a:ln>
        </p:spPr>
      </p:sp>
      <p:pic>
        <p:nvPicPr>
          <p:cNvPr id="8" name="Image 0" descr="assets/i_globe.png">    </p:cNvPr>
          <p:cNvPicPr>
            <a:picLocks noChangeAspect="1"/>
          </p:cNvPicPr>
          <p:nvPr/>
        </p:nvPicPr>
        <p:blipFill>
          <a:blip r:embed="rId1"/>
          <a:stretch>
            <a:fillRect/>
          </a:stretch>
        </p:blipFill>
        <p:spPr>
          <a:xfrm>
            <a:off x="1115568" y="3172968"/>
            <a:ext cx="466344" cy="466344"/>
          </a:xfrm>
          <a:prstGeom prst="rect">
            <a:avLst/>
          </a:prstGeom>
        </p:spPr>
      </p:pic>
      <p:sp>
        <p:nvSpPr>
          <p:cNvPr id="9" name="Text 6"/>
          <p:cNvSpPr/>
          <p:nvPr/>
        </p:nvSpPr>
        <p:spPr>
          <a:xfrm>
            <a:off x="960120" y="3977640"/>
            <a:ext cx="2752344" cy="411480"/>
          </a:xfrm>
          <a:prstGeom prst="rect">
            <a:avLst/>
          </a:prstGeom>
          <a:noFill/>
          <a:ln/>
        </p:spPr>
        <p:txBody>
          <a:bodyPr wrap="square" lIns="0" tIns="0" rIns="0" bIns="0" rtlCol="0" anchor="ctr"/>
          <a:lstStyle/>
          <a:p>
            <a:pPr indent="0" marL="0">
              <a:buNone/>
            </a:pPr>
            <a:r>
              <a:rPr lang="en-US" sz="1900" b="1" dirty="0">
                <a:solidFill>
                  <a:srgbClr val="111827"/>
                </a:solidFill>
              </a:rPr>
              <a:t>Geography</a:t>
            </a:r>
            <a:endParaRPr lang="en-US" sz="1900" dirty="0"/>
          </a:p>
        </p:txBody>
      </p:sp>
      <p:sp>
        <p:nvSpPr>
          <p:cNvPr id="10" name="Text 7"/>
          <p:cNvSpPr/>
          <p:nvPr/>
        </p:nvSpPr>
        <p:spPr>
          <a:xfrm>
            <a:off x="960120" y="4480560"/>
            <a:ext cx="2752344" cy="100584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Expert teachers cluster in a handful of cities. Rural and remote students are simply out of range.</a:t>
            </a:r>
            <a:endParaRPr lang="en-US" sz="1250" dirty="0"/>
          </a:p>
        </p:txBody>
      </p:sp>
      <p:sp>
        <p:nvSpPr>
          <p:cNvPr id="11" name="Shape 8"/>
          <p:cNvSpPr/>
          <p:nvPr/>
        </p:nvSpPr>
        <p:spPr>
          <a:xfrm>
            <a:off x="4398264" y="2697480"/>
            <a:ext cx="3392424" cy="2926080"/>
          </a:xfrm>
          <a:prstGeom prst="roundRect">
            <a:avLst>
              <a:gd name="adj" fmla="val 3125"/>
            </a:avLst>
          </a:prstGeom>
          <a:solidFill>
            <a:srgbClr val="F9FAFB"/>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12" name="Shape 9"/>
          <p:cNvSpPr/>
          <p:nvPr/>
        </p:nvSpPr>
        <p:spPr>
          <a:xfrm>
            <a:off x="4718304" y="3017520"/>
            <a:ext cx="777240" cy="777240"/>
          </a:xfrm>
          <a:prstGeom prst="roundRect">
            <a:avLst>
              <a:gd name="adj" fmla="val 14118"/>
            </a:avLst>
          </a:prstGeom>
          <a:solidFill>
            <a:srgbClr val="FFFFFF"/>
          </a:solidFill>
          <a:ln w="12700">
            <a:solidFill>
              <a:srgbClr val="E5E7EB"/>
            </a:solidFill>
            <a:prstDash val="solid"/>
          </a:ln>
        </p:spPr>
      </p:sp>
      <p:pic>
        <p:nvPicPr>
          <p:cNvPr id="13" name="Image 1" descr="assets/i_coins.png">    </p:cNvPr>
          <p:cNvPicPr>
            <a:picLocks noChangeAspect="1"/>
          </p:cNvPicPr>
          <p:nvPr/>
        </p:nvPicPr>
        <p:blipFill>
          <a:blip r:embed="rId2"/>
          <a:stretch>
            <a:fillRect/>
          </a:stretch>
        </p:blipFill>
        <p:spPr>
          <a:xfrm>
            <a:off x="4873752" y="3172968"/>
            <a:ext cx="466344" cy="466344"/>
          </a:xfrm>
          <a:prstGeom prst="rect">
            <a:avLst/>
          </a:prstGeom>
        </p:spPr>
      </p:pic>
      <p:sp>
        <p:nvSpPr>
          <p:cNvPr id="14" name="Text 10"/>
          <p:cNvSpPr/>
          <p:nvPr/>
        </p:nvSpPr>
        <p:spPr>
          <a:xfrm>
            <a:off x="4718304" y="3977640"/>
            <a:ext cx="2752344" cy="411480"/>
          </a:xfrm>
          <a:prstGeom prst="rect">
            <a:avLst/>
          </a:prstGeom>
          <a:noFill/>
          <a:ln/>
        </p:spPr>
        <p:txBody>
          <a:bodyPr wrap="square" lIns="0" tIns="0" rIns="0" bIns="0" rtlCol="0" anchor="ctr"/>
          <a:lstStyle/>
          <a:p>
            <a:pPr indent="0" marL="0">
              <a:buNone/>
            </a:pPr>
            <a:r>
              <a:rPr lang="en-US" sz="1900" b="1" dirty="0">
                <a:solidFill>
                  <a:srgbClr val="111827"/>
                </a:solidFill>
              </a:rPr>
              <a:t>Wealth</a:t>
            </a:r>
            <a:endParaRPr lang="en-US" sz="1900" dirty="0"/>
          </a:p>
        </p:txBody>
      </p:sp>
      <p:sp>
        <p:nvSpPr>
          <p:cNvPr id="15" name="Text 11"/>
          <p:cNvSpPr/>
          <p:nvPr/>
        </p:nvSpPr>
        <p:spPr>
          <a:xfrm>
            <a:off x="4718304" y="4480560"/>
            <a:ext cx="2752344" cy="100584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Quality tutoring and elite schooling sit behind fees most families can't pay.</a:t>
            </a:r>
            <a:endParaRPr lang="en-US" sz="1250" dirty="0"/>
          </a:p>
        </p:txBody>
      </p:sp>
      <p:sp>
        <p:nvSpPr>
          <p:cNvPr id="16" name="Shape 12"/>
          <p:cNvSpPr/>
          <p:nvPr/>
        </p:nvSpPr>
        <p:spPr>
          <a:xfrm>
            <a:off x="8156448" y="2697480"/>
            <a:ext cx="3392424" cy="2926080"/>
          </a:xfrm>
          <a:prstGeom prst="roundRect">
            <a:avLst>
              <a:gd name="adj" fmla="val 3125"/>
            </a:avLst>
          </a:prstGeom>
          <a:solidFill>
            <a:srgbClr val="F9FAFB"/>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17" name="Shape 13"/>
          <p:cNvSpPr/>
          <p:nvPr/>
        </p:nvSpPr>
        <p:spPr>
          <a:xfrm>
            <a:off x="8476488" y="3017520"/>
            <a:ext cx="777240" cy="777240"/>
          </a:xfrm>
          <a:prstGeom prst="roundRect">
            <a:avLst>
              <a:gd name="adj" fmla="val 14118"/>
            </a:avLst>
          </a:prstGeom>
          <a:solidFill>
            <a:srgbClr val="FFFFFF"/>
          </a:solidFill>
          <a:ln w="12700">
            <a:solidFill>
              <a:srgbClr val="E5E7EB"/>
            </a:solidFill>
            <a:prstDash val="solid"/>
          </a:ln>
        </p:spPr>
      </p:sp>
      <p:pic>
        <p:nvPicPr>
          <p:cNvPr id="18" name="Image 2" descr="assets/i_lang.png">    </p:cNvPr>
          <p:cNvPicPr>
            <a:picLocks noChangeAspect="1"/>
          </p:cNvPicPr>
          <p:nvPr/>
        </p:nvPicPr>
        <p:blipFill>
          <a:blip r:embed="rId3"/>
          <a:stretch>
            <a:fillRect/>
          </a:stretch>
        </p:blipFill>
        <p:spPr>
          <a:xfrm>
            <a:off x="8631936" y="3172968"/>
            <a:ext cx="466344" cy="466344"/>
          </a:xfrm>
          <a:prstGeom prst="rect">
            <a:avLst/>
          </a:prstGeom>
        </p:spPr>
      </p:pic>
      <p:sp>
        <p:nvSpPr>
          <p:cNvPr id="19" name="Text 14"/>
          <p:cNvSpPr/>
          <p:nvPr/>
        </p:nvSpPr>
        <p:spPr>
          <a:xfrm>
            <a:off x="8476488" y="3977640"/>
            <a:ext cx="2752344" cy="411480"/>
          </a:xfrm>
          <a:prstGeom prst="rect">
            <a:avLst/>
          </a:prstGeom>
          <a:noFill/>
          <a:ln/>
        </p:spPr>
        <p:txBody>
          <a:bodyPr wrap="square" lIns="0" tIns="0" rIns="0" bIns="0" rtlCol="0" anchor="ctr"/>
          <a:lstStyle/>
          <a:p>
            <a:pPr indent="0" marL="0">
              <a:buNone/>
            </a:pPr>
            <a:r>
              <a:rPr lang="en-US" sz="1900" b="1" dirty="0">
                <a:solidFill>
                  <a:srgbClr val="111827"/>
                </a:solidFill>
              </a:rPr>
              <a:t>Language</a:t>
            </a:r>
            <a:endParaRPr lang="en-US" sz="1900" dirty="0"/>
          </a:p>
        </p:txBody>
      </p:sp>
      <p:sp>
        <p:nvSpPr>
          <p:cNvPr id="20" name="Text 15"/>
          <p:cNvSpPr/>
          <p:nvPr/>
        </p:nvSpPr>
        <p:spPr>
          <a:xfrm>
            <a:off x="8476488" y="4480560"/>
            <a:ext cx="2752344" cy="100584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The best material exists in a few dominant languages — leaving billions reading a translation, if anything.</a:t>
            </a:r>
            <a:endParaRPr lang="en-US" sz="1250" dirty="0"/>
          </a:p>
        </p:txBody>
      </p:sp>
      <p:sp>
        <p:nvSpPr>
          <p:cNvPr id="21" name="Text 16"/>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22" name="Text 17"/>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WHAT IS LEARNBRIDGE</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Free, expert education — matched to your exact problem</a:t>
            </a:r>
            <a:endParaRPr lang="en-US" sz="3200" dirty="0"/>
          </a:p>
        </p:txBody>
      </p:sp>
      <p:sp>
        <p:nvSpPr>
          <p:cNvPr id="5" name="Text 3"/>
          <p:cNvSpPr/>
          <p:nvPr/>
        </p:nvSpPr>
        <p:spPr>
          <a:xfrm>
            <a:off x="640080" y="1965960"/>
            <a:ext cx="10607040" cy="914400"/>
          </a:xfrm>
          <a:prstGeom prst="rect">
            <a:avLst/>
          </a:prstGeom>
          <a:noFill/>
          <a:ln/>
        </p:spPr>
        <p:txBody>
          <a:bodyPr wrap="square" lIns="0" tIns="0" rIns="0" bIns="0" rtlCol="0" anchor="ctr"/>
          <a:lstStyle/>
          <a:p>
            <a:pPr indent="0" marL="0">
              <a:lnSpc>
                <a:spcPts val="2200"/>
              </a:lnSpc>
              <a:buNone/>
            </a:pPr>
            <a:r>
              <a:rPr lang="en-US" sz="1450" dirty="0">
                <a:solidFill>
                  <a:srgbClr val="6B7280"/>
                </a:solidFill>
              </a:rPr>
              <a:t>LearnBridge is a web platform where any student, anywhere, describes their confusion in their own language and gets matched to expert video courses with an AI tutor beside them. Students pay nothing. The whole thing is funded by corporate sponsors and the teachers get paid per lesson.</a:t>
            </a:r>
            <a:endParaRPr lang="en-US" sz="1450" dirty="0"/>
          </a:p>
        </p:txBody>
      </p:sp>
      <p:sp>
        <p:nvSpPr>
          <p:cNvPr id="6" name="Shape 4"/>
          <p:cNvSpPr/>
          <p:nvPr/>
        </p:nvSpPr>
        <p:spPr>
          <a:xfrm>
            <a:off x="640080" y="3063240"/>
            <a:ext cx="3392424" cy="2743200"/>
          </a:xfrm>
          <a:prstGeom prst="roundRect">
            <a:avLst>
              <a:gd name="adj" fmla="val 3333"/>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7" name="Shape 5"/>
          <p:cNvSpPr/>
          <p:nvPr/>
        </p:nvSpPr>
        <p:spPr>
          <a:xfrm>
            <a:off x="640080" y="3063240"/>
            <a:ext cx="3392424" cy="82296"/>
          </a:xfrm>
          <a:prstGeom prst="rect">
            <a:avLst/>
          </a:prstGeom>
          <a:solidFill>
            <a:srgbClr val="10B981"/>
          </a:solidFill>
          <a:ln/>
        </p:spPr>
      </p:sp>
      <p:pic>
        <p:nvPicPr>
          <p:cNvPr id="8" name="Image 0" descr="assets/i_gift.png">    </p:cNvPr>
          <p:cNvPicPr>
            <a:picLocks noChangeAspect="1"/>
          </p:cNvPicPr>
          <p:nvPr/>
        </p:nvPicPr>
        <p:blipFill>
          <a:blip r:embed="rId1"/>
          <a:stretch>
            <a:fillRect/>
          </a:stretch>
        </p:blipFill>
        <p:spPr>
          <a:xfrm>
            <a:off x="960120" y="3447288"/>
            <a:ext cx="548640" cy="548640"/>
          </a:xfrm>
          <a:prstGeom prst="rect">
            <a:avLst/>
          </a:prstGeom>
        </p:spPr>
      </p:pic>
      <p:sp>
        <p:nvSpPr>
          <p:cNvPr id="9" name="Text 6"/>
          <p:cNvSpPr/>
          <p:nvPr/>
        </p:nvSpPr>
        <p:spPr>
          <a:xfrm>
            <a:off x="960120" y="4160520"/>
            <a:ext cx="2752344" cy="411480"/>
          </a:xfrm>
          <a:prstGeom prst="rect">
            <a:avLst/>
          </a:prstGeom>
          <a:noFill/>
          <a:ln/>
        </p:spPr>
        <p:txBody>
          <a:bodyPr wrap="square" lIns="0" tIns="0" rIns="0" bIns="0" rtlCol="0" anchor="ctr"/>
          <a:lstStyle/>
          <a:p>
            <a:pPr indent="0" marL="0">
              <a:buNone/>
            </a:pPr>
            <a:r>
              <a:rPr lang="en-US" sz="1700" b="1" dirty="0">
                <a:solidFill>
                  <a:srgbClr val="111827"/>
                </a:solidFill>
              </a:rPr>
              <a:t>Students pay nothing</a:t>
            </a:r>
            <a:endParaRPr lang="en-US" sz="1700" dirty="0"/>
          </a:p>
        </p:txBody>
      </p:sp>
      <p:sp>
        <p:nvSpPr>
          <p:cNvPr id="10" name="Text 7"/>
          <p:cNvSpPr/>
          <p:nvPr/>
        </p:nvSpPr>
        <p:spPr>
          <a:xfrm>
            <a:off x="960120" y="4617720"/>
            <a:ext cx="2752344" cy="100584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100% free to learn. No paywall, no subscription, no signup required to search.</a:t>
            </a:r>
            <a:endParaRPr lang="en-US" sz="1250" dirty="0"/>
          </a:p>
        </p:txBody>
      </p:sp>
      <p:sp>
        <p:nvSpPr>
          <p:cNvPr id="11" name="Shape 8"/>
          <p:cNvSpPr/>
          <p:nvPr/>
        </p:nvSpPr>
        <p:spPr>
          <a:xfrm>
            <a:off x="4398264" y="3063240"/>
            <a:ext cx="3392424" cy="2743200"/>
          </a:xfrm>
          <a:prstGeom prst="roundRect">
            <a:avLst>
              <a:gd name="adj" fmla="val 3333"/>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12" name="Shape 9"/>
          <p:cNvSpPr/>
          <p:nvPr/>
        </p:nvSpPr>
        <p:spPr>
          <a:xfrm>
            <a:off x="4398264" y="3063240"/>
            <a:ext cx="3392424" cy="82296"/>
          </a:xfrm>
          <a:prstGeom prst="rect">
            <a:avLst/>
          </a:prstGeom>
          <a:solidFill>
            <a:srgbClr val="2563EB"/>
          </a:solidFill>
          <a:ln/>
        </p:spPr>
      </p:sp>
      <p:pic>
        <p:nvPicPr>
          <p:cNvPr id="13" name="Image 1" descr="assets/i_building.png">    </p:cNvPr>
          <p:cNvPicPr>
            <a:picLocks noChangeAspect="1"/>
          </p:cNvPicPr>
          <p:nvPr/>
        </p:nvPicPr>
        <p:blipFill>
          <a:blip r:embed="rId2"/>
          <a:stretch>
            <a:fillRect/>
          </a:stretch>
        </p:blipFill>
        <p:spPr>
          <a:xfrm>
            <a:off x="4718304" y="3447288"/>
            <a:ext cx="548640" cy="548640"/>
          </a:xfrm>
          <a:prstGeom prst="rect">
            <a:avLst/>
          </a:prstGeom>
        </p:spPr>
      </p:pic>
      <p:sp>
        <p:nvSpPr>
          <p:cNvPr id="14" name="Text 10"/>
          <p:cNvSpPr/>
          <p:nvPr/>
        </p:nvSpPr>
        <p:spPr>
          <a:xfrm>
            <a:off x="4718304" y="4160520"/>
            <a:ext cx="2752344" cy="411480"/>
          </a:xfrm>
          <a:prstGeom prst="rect">
            <a:avLst/>
          </a:prstGeom>
          <a:noFill/>
          <a:ln/>
        </p:spPr>
        <p:txBody>
          <a:bodyPr wrap="square" lIns="0" tIns="0" rIns="0" bIns="0" rtlCol="0" anchor="ctr"/>
          <a:lstStyle/>
          <a:p>
            <a:pPr indent="0" marL="0">
              <a:buNone/>
            </a:pPr>
            <a:r>
              <a:rPr lang="en-US" sz="1700" b="1" dirty="0">
                <a:solidFill>
                  <a:srgbClr val="111827"/>
                </a:solidFill>
              </a:rPr>
              <a:t>Sponsors fund content</a:t>
            </a:r>
            <a:endParaRPr lang="en-US" sz="1700" dirty="0"/>
          </a:p>
        </p:txBody>
      </p:sp>
      <p:sp>
        <p:nvSpPr>
          <p:cNvPr id="15" name="Text 11"/>
          <p:cNvSpPr/>
          <p:nvPr/>
        </p:nvSpPr>
        <p:spPr>
          <a:xfrm>
            <a:off x="4718304" y="4617720"/>
            <a:ext cx="2752344" cy="100584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Companies fund courses by subject — for brand reach in emerging markets and CSR mandates.</a:t>
            </a:r>
            <a:endParaRPr lang="en-US" sz="1250" dirty="0"/>
          </a:p>
        </p:txBody>
      </p:sp>
      <p:sp>
        <p:nvSpPr>
          <p:cNvPr id="16" name="Shape 12"/>
          <p:cNvSpPr/>
          <p:nvPr/>
        </p:nvSpPr>
        <p:spPr>
          <a:xfrm>
            <a:off x="8156448" y="3063240"/>
            <a:ext cx="3392424" cy="2743200"/>
          </a:xfrm>
          <a:prstGeom prst="roundRect">
            <a:avLst>
              <a:gd name="adj" fmla="val 3333"/>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17" name="Shape 13"/>
          <p:cNvSpPr/>
          <p:nvPr/>
        </p:nvSpPr>
        <p:spPr>
          <a:xfrm>
            <a:off x="8156448" y="3063240"/>
            <a:ext cx="3392424" cy="82296"/>
          </a:xfrm>
          <a:prstGeom prst="rect">
            <a:avLst/>
          </a:prstGeom>
          <a:solidFill>
            <a:srgbClr val="7C3AED"/>
          </a:solidFill>
          <a:ln/>
        </p:spPr>
      </p:sp>
      <p:pic>
        <p:nvPicPr>
          <p:cNvPr id="18" name="Image 2" descr="assets/i_teacher.png">    </p:cNvPr>
          <p:cNvPicPr>
            <a:picLocks noChangeAspect="1"/>
          </p:cNvPicPr>
          <p:nvPr/>
        </p:nvPicPr>
        <p:blipFill>
          <a:blip r:embed="rId3"/>
          <a:stretch>
            <a:fillRect/>
          </a:stretch>
        </p:blipFill>
        <p:spPr>
          <a:xfrm>
            <a:off x="8476488" y="3447288"/>
            <a:ext cx="548640" cy="548640"/>
          </a:xfrm>
          <a:prstGeom prst="rect">
            <a:avLst/>
          </a:prstGeom>
        </p:spPr>
      </p:pic>
      <p:sp>
        <p:nvSpPr>
          <p:cNvPr id="19" name="Text 14"/>
          <p:cNvSpPr/>
          <p:nvPr/>
        </p:nvSpPr>
        <p:spPr>
          <a:xfrm>
            <a:off x="8476488" y="4160520"/>
            <a:ext cx="2752344" cy="411480"/>
          </a:xfrm>
          <a:prstGeom prst="rect">
            <a:avLst/>
          </a:prstGeom>
          <a:noFill/>
          <a:ln/>
        </p:spPr>
        <p:txBody>
          <a:bodyPr wrap="square" lIns="0" tIns="0" rIns="0" bIns="0" rtlCol="0" anchor="ctr"/>
          <a:lstStyle/>
          <a:p>
            <a:pPr indent="0" marL="0">
              <a:buNone/>
            </a:pPr>
            <a:r>
              <a:rPr lang="en-US" sz="1700" b="1" dirty="0">
                <a:solidFill>
                  <a:srgbClr val="111827"/>
                </a:solidFill>
              </a:rPr>
              <a:t>Teachers get paid</a:t>
            </a:r>
            <a:endParaRPr lang="en-US" sz="1700" dirty="0"/>
          </a:p>
        </p:txBody>
      </p:sp>
      <p:sp>
        <p:nvSpPr>
          <p:cNvPr id="20" name="Text 15"/>
          <p:cNvSpPr/>
          <p:nvPr/>
        </p:nvSpPr>
        <p:spPr>
          <a:xfrm>
            <a:off x="8476488" y="4617720"/>
            <a:ext cx="2752344" cy="100584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Educators earn per lesson delivered, so great teaching scales without charging students.</a:t>
            </a:r>
            <a:endParaRPr lang="en-US" sz="1250" dirty="0"/>
          </a:p>
        </p:txBody>
      </p:sp>
      <p:sp>
        <p:nvSpPr>
          <p:cNvPr id="21" name="Text 16"/>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22" name="Text 17"/>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HOW IT WORKS</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From confusion to certificate</a:t>
            </a:r>
            <a:endParaRPr lang="en-US" sz="3200" dirty="0"/>
          </a:p>
        </p:txBody>
      </p:sp>
      <p:sp>
        <p:nvSpPr>
          <p:cNvPr id="5" name="Shape 3"/>
          <p:cNvSpPr/>
          <p:nvPr/>
        </p:nvSpPr>
        <p:spPr>
          <a:xfrm>
            <a:off x="640080" y="1965960"/>
            <a:ext cx="3422904" cy="2057400"/>
          </a:xfrm>
          <a:prstGeom prst="roundRect">
            <a:avLst>
              <a:gd name="adj" fmla="val 4444"/>
            </a:avLst>
          </a:prstGeom>
          <a:solidFill>
            <a:srgbClr val="F9FAFB"/>
          </a:solidFill>
          <a:ln w="12700">
            <a:solidFill>
              <a:srgbClr val="E5E7EB"/>
            </a:solidFill>
            <a:prstDash val="solid"/>
          </a:ln>
        </p:spPr>
      </p:sp>
      <p:sp>
        <p:nvSpPr>
          <p:cNvPr id="6" name="Shape 4"/>
          <p:cNvSpPr/>
          <p:nvPr/>
        </p:nvSpPr>
        <p:spPr>
          <a:xfrm>
            <a:off x="932688" y="2258568"/>
            <a:ext cx="566928" cy="566928"/>
          </a:xfrm>
          <a:prstGeom prst="ellipse">
            <a:avLst/>
          </a:prstGeom>
          <a:solidFill>
            <a:srgbClr val="2563EB"/>
          </a:solidFill>
          <a:ln/>
        </p:spPr>
      </p:sp>
      <p:sp>
        <p:nvSpPr>
          <p:cNvPr id="7" name="Text 5"/>
          <p:cNvSpPr/>
          <p:nvPr/>
        </p:nvSpPr>
        <p:spPr>
          <a:xfrm>
            <a:off x="932688" y="22585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8" name="Text 6"/>
          <p:cNvSpPr/>
          <p:nvPr/>
        </p:nvSpPr>
        <p:spPr>
          <a:xfrm>
            <a:off x="1645920" y="2276856"/>
            <a:ext cx="2188464" cy="548640"/>
          </a:xfrm>
          <a:prstGeom prst="rect">
            <a:avLst/>
          </a:prstGeom>
          <a:noFill/>
          <a:ln/>
        </p:spPr>
        <p:txBody>
          <a:bodyPr wrap="square" lIns="0" tIns="0" rIns="0" bIns="0" rtlCol="0" anchor="ctr"/>
          <a:lstStyle/>
          <a:p>
            <a:pPr indent="0" marL="0">
              <a:buNone/>
            </a:pPr>
            <a:r>
              <a:rPr lang="en-US" sz="1550" b="1" dirty="0">
                <a:solidFill>
                  <a:srgbClr val="111827"/>
                </a:solidFill>
              </a:rPr>
              <a:t>Ask in any language</a:t>
            </a:r>
            <a:endParaRPr lang="en-US" sz="1550" dirty="0"/>
          </a:p>
        </p:txBody>
      </p:sp>
      <p:sp>
        <p:nvSpPr>
          <p:cNvPr id="9" name="Text 7"/>
          <p:cNvSpPr/>
          <p:nvPr/>
        </p:nvSpPr>
        <p:spPr>
          <a:xfrm>
            <a:off x="950976" y="2971800"/>
            <a:ext cx="2819400" cy="91440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Type what you're stuck on into one search bar — Hindi, French, German, English, anything.</a:t>
            </a:r>
            <a:endParaRPr lang="en-US" sz="1200" dirty="0"/>
          </a:p>
        </p:txBody>
      </p:sp>
      <p:sp>
        <p:nvSpPr>
          <p:cNvPr id="10" name="Shape 8"/>
          <p:cNvSpPr/>
          <p:nvPr/>
        </p:nvSpPr>
        <p:spPr>
          <a:xfrm>
            <a:off x="4383024" y="1965960"/>
            <a:ext cx="3422904" cy="2057400"/>
          </a:xfrm>
          <a:prstGeom prst="roundRect">
            <a:avLst>
              <a:gd name="adj" fmla="val 4444"/>
            </a:avLst>
          </a:prstGeom>
          <a:solidFill>
            <a:srgbClr val="F9FAFB"/>
          </a:solidFill>
          <a:ln w="12700">
            <a:solidFill>
              <a:srgbClr val="E5E7EB"/>
            </a:solidFill>
            <a:prstDash val="solid"/>
          </a:ln>
        </p:spPr>
      </p:sp>
      <p:sp>
        <p:nvSpPr>
          <p:cNvPr id="11" name="Shape 9"/>
          <p:cNvSpPr/>
          <p:nvPr/>
        </p:nvSpPr>
        <p:spPr>
          <a:xfrm>
            <a:off x="4675632" y="2258568"/>
            <a:ext cx="566928" cy="566928"/>
          </a:xfrm>
          <a:prstGeom prst="ellipse">
            <a:avLst/>
          </a:prstGeom>
          <a:solidFill>
            <a:srgbClr val="2563EB"/>
          </a:solidFill>
          <a:ln/>
        </p:spPr>
      </p:sp>
      <p:sp>
        <p:nvSpPr>
          <p:cNvPr id="12" name="Text 10"/>
          <p:cNvSpPr/>
          <p:nvPr/>
        </p:nvSpPr>
        <p:spPr>
          <a:xfrm>
            <a:off x="4675632" y="22585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3" name="Text 11"/>
          <p:cNvSpPr/>
          <p:nvPr/>
        </p:nvSpPr>
        <p:spPr>
          <a:xfrm>
            <a:off x="5388864" y="2276856"/>
            <a:ext cx="2188464" cy="548640"/>
          </a:xfrm>
          <a:prstGeom prst="rect">
            <a:avLst/>
          </a:prstGeom>
          <a:noFill/>
          <a:ln/>
        </p:spPr>
        <p:txBody>
          <a:bodyPr wrap="square" lIns="0" tIns="0" rIns="0" bIns="0" rtlCol="0" anchor="ctr"/>
          <a:lstStyle/>
          <a:p>
            <a:pPr indent="0" marL="0">
              <a:buNone/>
            </a:pPr>
            <a:r>
              <a:rPr lang="en-US" sz="1550" b="1" dirty="0">
                <a:solidFill>
                  <a:srgbClr val="111827"/>
                </a:solidFill>
              </a:rPr>
              <a:t>AI matches you</a:t>
            </a:r>
            <a:endParaRPr lang="en-US" sz="1550" dirty="0"/>
          </a:p>
        </p:txBody>
      </p:sp>
      <p:sp>
        <p:nvSpPr>
          <p:cNvPr id="14" name="Text 12"/>
          <p:cNvSpPr/>
          <p:nvPr/>
        </p:nvSpPr>
        <p:spPr>
          <a:xfrm>
            <a:off x="4693920" y="2971800"/>
            <a:ext cx="2819400" cy="91440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Claude detects your language, subject, concept and level, then returns the 3 best courses.</a:t>
            </a:r>
            <a:endParaRPr lang="en-US" sz="1200" dirty="0"/>
          </a:p>
        </p:txBody>
      </p:sp>
      <p:sp>
        <p:nvSpPr>
          <p:cNvPr id="15" name="Shape 13"/>
          <p:cNvSpPr/>
          <p:nvPr/>
        </p:nvSpPr>
        <p:spPr>
          <a:xfrm>
            <a:off x="8125968" y="1965960"/>
            <a:ext cx="3422904" cy="2057400"/>
          </a:xfrm>
          <a:prstGeom prst="roundRect">
            <a:avLst>
              <a:gd name="adj" fmla="val 4444"/>
            </a:avLst>
          </a:prstGeom>
          <a:solidFill>
            <a:srgbClr val="F9FAFB"/>
          </a:solidFill>
          <a:ln w="12700">
            <a:solidFill>
              <a:srgbClr val="E5E7EB"/>
            </a:solidFill>
            <a:prstDash val="solid"/>
          </a:ln>
        </p:spPr>
      </p:sp>
      <p:sp>
        <p:nvSpPr>
          <p:cNvPr id="16" name="Shape 14"/>
          <p:cNvSpPr/>
          <p:nvPr/>
        </p:nvSpPr>
        <p:spPr>
          <a:xfrm>
            <a:off x="8418576" y="2258568"/>
            <a:ext cx="566928" cy="566928"/>
          </a:xfrm>
          <a:prstGeom prst="ellipse">
            <a:avLst/>
          </a:prstGeom>
          <a:solidFill>
            <a:srgbClr val="2563EB"/>
          </a:solidFill>
          <a:ln/>
        </p:spPr>
      </p:sp>
      <p:sp>
        <p:nvSpPr>
          <p:cNvPr id="17" name="Text 15"/>
          <p:cNvSpPr/>
          <p:nvPr/>
        </p:nvSpPr>
        <p:spPr>
          <a:xfrm>
            <a:off x="8418576" y="22585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8" name="Text 16"/>
          <p:cNvSpPr/>
          <p:nvPr/>
        </p:nvSpPr>
        <p:spPr>
          <a:xfrm>
            <a:off x="9131808" y="2276856"/>
            <a:ext cx="2188464" cy="548640"/>
          </a:xfrm>
          <a:prstGeom prst="rect">
            <a:avLst/>
          </a:prstGeom>
          <a:noFill/>
          <a:ln/>
        </p:spPr>
        <p:txBody>
          <a:bodyPr wrap="square" lIns="0" tIns="0" rIns="0" bIns="0" rtlCol="0" anchor="ctr"/>
          <a:lstStyle/>
          <a:p>
            <a:pPr indent="0" marL="0">
              <a:buNone/>
            </a:pPr>
            <a:r>
              <a:rPr lang="en-US" sz="1550" b="1" dirty="0">
                <a:solidFill>
                  <a:srgbClr val="111827"/>
                </a:solidFill>
              </a:rPr>
              <a:t>Learn by video</a:t>
            </a:r>
            <a:endParaRPr lang="en-US" sz="1550" dirty="0"/>
          </a:p>
        </p:txBody>
      </p:sp>
      <p:sp>
        <p:nvSpPr>
          <p:cNvPr id="19" name="Text 17"/>
          <p:cNvSpPr/>
          <p:nvPr/>
        </p:nvSpPr>
        <p:spPr>
          <a:xfrm>
            <a:off x="8436864" y="2971800"/>
            <a:ext cx="2819400" cy="91440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Open a course and watch real embedded lessons from world-class educators, inline.</a:t>
            </a:r>
            <a:endParaRPr lang="en-US" sz="1200" dirty="0"/>
          </a:p>
        </p:txBody>
      </p:sp>
      <p:sp>
        <p:nvSpPr>
          <p:cNvPr id="20" name="Shape 18"/>
          <p:cNvSpPr/>
          <p:nvPr/>
        </p:nvSpPr>
        <p:spPr>
          <a:xfrm>
            <a:off x="640080" y="4297680"/>
            <a:ext cx="3422904" cy="2057400"/>
          </a:xfrm>
          <a:prstGeom prst="roundRect">
            <a:avLst>
              <a:gd name="adj" fmla="val 4444"/>
            </a:avLst>
          </a:prstGeom>
          <a:solidFill>
            <a:srgbClr val="F9FAFB"/>
          </a:solidFill>
          <a:ln w="12700">
            <a:solidFill>
              <a:srgbClr val="E5E7EB"/>
            </a:solidFill>
            <a:prstDash val="solid"/>
          </a:ln>
        </p:spPr>
      </p:sp>
      <p:sp>
        <p:nvSpPr>
          <p:cNvPr id="21" name="Shape 19"/>
          <p:cNvSpPr/>
          <p:nvPr/>
        </p:nvSpPr>
        <p:spPr>
          <a:xfrm>
            <a:off x="932688" y="4590288"/>
            <a:ext cx="566928" cy="566928"/>
          </a:xfrm>
          <a:prstGeom prst="ellipse">
            <a:avLst/>
          </a:prstGeom>
          <a:solidFill>
            <a:srgbClr val="7C3AED"/>
          </a:solidFill>
          <a:ln/>
        </p:spPr>
      </p:sp>
      <p:sp>
        <p:nvSpPr>
          <p:cNvPr id="22" name="Text 20"/>
          <p:cNvSpPr/>
          <p:nvPr/>
        </p:nvSpPr>
        <p:spPr>
          <a:xfrm>
            <a:off x="932688" y="459028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3" name="Text 21"/>
          <p:cNvSpPr/>
          <p:nvPr/>
        </p:nvSpPr>
        <p:spPr>
          <a:xfrm>
            <a:off x="1645920" y="4608576"/>
            <a:ext cx="2188464" cy="548640"/>
          </a:xfrm>
          <a:prstGeom prst="rect">
            <a:avLst/>
          </a:prstGeom>
          <a:noFill/>
          <a:ln/>
        </p:spPr>
        <p:txBody>
          <a:bodyPr wrap="square" lIns="0" tIns="0" rIns="0" bIns="0" rtlCol="0" anchor="ctr"/>
          <a:lstStyle/>
          <a:p>
            <a:pPr indent="0" marL="0">
              <a:buNone/>
            </a:pPr>
            <a:r>
              <a:rPr lang="en-US" sz="1550" b="1" dirty="0">
                <a:solidFill>
                  <a:srgbClr val="111827"/>
                </a:solidFill>
              </a:rPr>
              <a:t>Think with a tutor</a:t>
            </a:r>
            <a:endParaRPr lang="en-US" sz="1550" dirty="0"/>
          </a:p>
        </p:txBody>
      </p:sp>
      <p:sp>
        <p:nvSpPr>
          <p:cNvPr id="24" name="Text 22"/>
          <p:cNvSpPr/>
          <p:nvPr/>
        </p:nvSpPr>
        <p:spPr>
          <a:xfrm>
            <a:off x="950976" y="5303520"/>
            <a:ext cx="2819400" cy="91440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A Socratic AI tutor asks guiding questions in your language — it never just hands over answers.</a:t>
            </a:r>
            <a:endParaRPr lang="en-US" sz="1200" dirty="0"/>
          </a:p>
        </p:txBody>
      </p:sp>
      <p:sp>
        <p:nvSpPr>
          <p:cNvPr id="25" name="Shape 23"/>
          <p:cNvSpPr/>
          <p:nvPr/>
        </p:nvSpPr>
        <p:spPr>
          <a:xfrm>
            <a:off x="4383024" y="4297680"/>
            <a:ext cx="3422904" cy="2057400"/>
          </a:xfrm>
          <a:prstGeom prst="roundRect">
            <a:avLst>
              <a:gd name="adj" fmla="val 4444"/>
            </a:avLst>
          </a:prstGeom>
          <a:solidFill>
            <a:srgbClr val="F9FAFB"/>
          </a:solidFill>
          <a:ln w="12700">
            <a:solidFill>
              <a:srgbClr val="E5E7EB"/>
            </a:solidFill>
            <a:prstDash val="solid"/>
          </a:ln>
        </p:spPr>
      </p:sp>
      <p:sp>
        <p:nvSpPr>
          <p:cNvPr id="26" name="Shape 24"/>
          <p:cNvSpPr/>
          <p:nvPr/>
        </p:nvSpPr>
        <p:spPr>
          <a:xfrm>
            <a:off x="4675632" y="4590288"/>
            <a:ext cx="566928" cy="566928"/>
          </a:xfrm>
          <a:prstGeom prst="ellipse">
            <a:avLst/>
          </a:prstGeom>
          <a:solidFill>
            <a:srgbClr val="7C3AED"/>
          </a:solidFill>
          <a:ln/>
        </p:spPr>
      </p:sp>
      <p:sp>
        <p:nvSpPr>
          <p:cNvPr id="27" name="Text 25"/>
          <p:cNvSpPr/>
          <p:nvPr/>
        </p:nvSpPr>
        <p:spPr>
          <a:xfrm>
            <a:off x="4675632" y="459028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8" name="Text 26"/>
          <p:cNvSpPr/>
          <p:nvPr/>
        </p:nvSpPr>
        <p:spPr>
          <a:xfrm>
            <a:off x="5388864" y="4608576"/>
            <a:ext cx="2188464" cy="548640"/>
          </a:xfrm>
          <a:prstGeom prst="rect">
            <a:avLst/>
          </a:prstGeom>
          <a:noFill/>
          <a:ln/>
        </p:spPr>
        <p:txBody>
          <a:bodyPr wrap="square" lIns="0" tIns="0" rIns="0" bIns="0" rtlCol="0" anchor="ctr"/>
          <a:lstStyle/>
          <a:p>
            <a:pPr indent="0" marL="0">
              <a:buNone/>
            </a:pPr>
            <a:r>
              <a:rPr lang="en-US" sz="1550" b="1" dirty="0">
                <a:solidFill>
                  <a:srgbClr val="111827"/>
                </a:solidFill>
              </a:rPr>
              <a:t>Earn a certificate</a:t>
            </a:r>
            <a:endParaRPr lang="en-US" sz="1550" dirty="0"/>
          </a:p>
        </p:txBody>
      </p:sp>
      <p:sp>
        <p:nvSpPr>
          <p:cNvPr id="29" name="Text 27"/>
          <p:cNvSpPr/>
          <p:nvPr/>
        </p:nvSpPr>
        <p:spPr>
          <a:xfrm>
            <a:off x="4693920" y="5303520"/>
            <a:ext cx="2819400" cy="91440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Finish the course and get a shareable certificate of completion.</a:t>
            </a:r>
            <a:endParaRPr lang="en-US" sz="1200" dirty="0"/>
          </a:p>
        </p:txBody>
      </p:sp>
      <p:sp>
        <p:nvSpPr>
          <p:cNvPr id="30" name="Shape 28"/>
          <p:cNvSpPr/>
          <p:nvPr/>
        </p:nvSpPr>
        <p:spPr>
          <a:xfrm>
            <a:off x="8125968" y="4297680"/>
            <a:ext cx="3422904" cy="2057400"/>
          </a:xfrm>
          <a:prstGeom prst="roundRect">
            <a:avLst>
              <a:gd name="adj" fmla="val 4444"/>
            </a:avLst>
          </a:prstGeom>
          <a:solidFill>
            <a:srgbClr val="F9FAFB"/>
          </a:solidFill>
          <a:ln w="12700">
            <a:solidFill>
              <a:srgbClr val="E5E7EB"/>
            </a:solidFill>
            <a:prstDash val="solid"/>
          </a:ln>
        </p:spPr>
      </p:sp>
      <p:sp>
        <p:nvSpPr>
          <p:cNvPr id="31" name="Shape 29"/>
          <p:cNvSpPr/>
          <p:nvPr/>
        </p:nvSpPr>
        <p:spPr>
          <a:xfrm>
            <a:off x="8418576" y="4590288"/>
            <a:ext cx="566928" cy="566928"/>
          </a:xfrm>
          <a:prstGeom prst="ellipse">
            <a:avLst/>
          </a:prstGeom>
          <a:solidFill>
            <a:srgbClr val="7C3AED"/>
          </a:solidFill>
          <a:ln/>
        </p:spPr>
      </p:sp>
      <p:sp>
        <p:nvSpPr>
          <p:cNvPr id="32" name="Text 30"/>
          <p:cNvSpPr/>
          <p:nvPr/>
        </p:nvSpPr>
        <p:spPr>
          <a:xfrm>
            <a:off x="8418576" y="459028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33" name="Text 31"/>
          <p:cNvSpPr/>
          <p:nvPr/>
        </p:nvSpPr>
        <p:spPr>
          <a:xfrm>
            <a:off x="9131808" y="4608576"/>
            <a:ext cx="2188464" cy="548640"/>
          </a:xfrm>
          <a:prstGeom prst="rect">
            <a:avLst/>
          </a:prstGeom>
          <a:noFill/>
          <a:ln/>
        </p:spPr>
        <p:txBody>
          <a:bodyPr wrap="square" lIns="0" tIns="0" rIns="0" bIns="0" rtlCol="0" anchor="ctr"/>
          <a:lstStyle/>
          <a:p>
            <a:pPr indent="0" marL="0">
              <a:buNone/>
            </a:pPr>
            <a:r>
              <a:rPr lang="en-US" sz="1550" b="1" dirty="0">
                <a:solidFill>
                  <a:srgbClr val="111827"/>
                </a:solidFill>
              </a:rPr>
              <a:t>Meet a human tutor</a:t>
            </a:r>
            <a:endParaRPr lang="en-US" sz="1550" dirty="0"/>
          </a:p>
        </p:txBody>
      </p:sp>
      <p:sp>
        <p:nvSpPr>
          <p:cNvPr id="34" name="Text 32"/>
          <p:cNvSpPr/>
          <p:nvPr/>
        </p:nvSpPr>
        <p:spPr>
          <a:xfrm>
            <a:off x="8436864" y="5303520"/>
            <a:ext cx="2819400" cy="91440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Optionally connect to a live human tutor matched to your subject.</a:t>
            </a:r>
            <a:endParaRPr lang="en-US" sz="1200" dirty="0"/>
          </a:p>
        </p:txBody>
      </p:sp>
      <p:sp>
        <p:nvSpPr>
          <p:cNvPr id="35" name="Text 33"/>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36" name="Text 34"/>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THE MATCHING ENGINE</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Type your confusion in any language</a:t>
            </a:r>
            <a:endParaRPr lang="en-US" sz="3200" dirty="0"/>
          </a:p>
        </p:txBody>
      </p:sp>
      <p:sp>
        <p:nvSpPr>
          <p:cNvPr id="5" name="Text 3"/>
          <p:cNvSpPr/>
          <p:nvPr/>
        </p:nvSpPr>
        <p:spPr>
          <a:xfrm>
            <a:off x="640080" y="1691640"/>
            <a:ext cx="5074920" cy="1645920"/>
          </a:xfrm>
          <a:prstGeom prst="rect">
            <a:avLst/>
          </a:prstGeom>
          <a:noFill/>
          <a:ln/>
        </p:spPr>
        <p:txBody>
          <a:bodyPr wrap="square" lIns="0" tIns="0" rIns="0" bIns="0" rtlCol="0" anchor="ctr"/>
          <a:lstStyle/>
          <a:p>
            <a:pPr indent="0" marL="0">
              <a:lnSpc>
                <a:spcPts val="2200"/>
              </a:lnSpc>
              <a:buNone/>
            </a:pPr>
            <a:r>
              <a:rPr lang="en-US" sz="1400" dirty="0">
                <a:solidFill>
                  <a:srgbClr val="6B7280"/>
                </a:solidFill>
              </a:rPr>
              <a:t>This is the heart of the product. The student's raw text goes to Claude, which identifies the language, subject, concept and difficulty, then returns the three best-matched courses with a reason — never defaulting to one subject.</a:t>
            </a:r>
            <a:endParaRPr lang="en-US" sz="1400" dirty="0"/>
          </a:p>
        </p:txBody>
      </p:sp>
      <p:sp>
        <p:nvSpPr>
          <p:cNvPr id="6" name="Shape 4"/>
          <p:cNvSpPr/>
          <p:nvPr/>
        </p:nvSpPr>
        <p:spPr>
          <a:xfrm>
            <a:off x="640080" y="3429000"/>
            <a:ext cx="5074920" cy="2606040"/>
          </a:xfrm>
          <a:prstGeom prst="roundRect">
            <a:avLst>
              <a:gd name="adj" fmla="val 3509"/>
            </a:avLst>
          </a:prstGeom>
          <a:solidFill>
            <a:srgbClr val="0E1626"/>
          </a:solidFill>
          <a:ln/>
          <a:effectLst>
            <a:outerShdw sx="100000" sy="100000" kx="0" ky="0" algn="bl" rotWithShape="0" blurRad="177800" dist="50800" dir="5400000">
              <a:srgbClr val="111827">
                <a:alpha val="10000"/>
              </a:srgbClr>
            </a:outerShdw>
          </a:effectLst>
        </p:spPr>
      </p:sp>
      <p:sp>
        <p:nvSpPr>
          <p:cNvPr id="7" name="Text 5"/>
          <p:cNvSpPr/>
          <p:nvPr/>
        </p:nvSpPr>
        <p:spPr>
          <a:xfrm>
            <a:off x="1005840" y="3657600"/>
            <a:ext cx="3657600" cy="274320"/>
          </a:xfrm>
          <a:prstGeom prst="rect">
            <a:avLst/>
          </a:prstGeom>
          <a:noFill/>
          <a:ln/>
        </p:spPr>
        <p:txBody>
          <a:bodyPr wrap="square" lIns="0" tIns="0" rIns="0" bIns="0" rtlCol="0" anchor="ctr"/>
          <a:lstStyle/>
          <a:p>
            <a:pPr indent="0" marL="0">
              <a:buNone/>
            </a:pPr>
            <a:r>
              <a:rPr lang="en-US" sz="1000" b="1" spc="200" kern="0" dirty="0">
                <a:solidFill>
                  <a:srgbClr val="60A5FA"/>
                </a:solidFill>
              </a:rPr>
              <a:t>DETECTED</a:t>
            </a:r>
            <a:endParaRPr lang="en-US" sz="1000" dirty="0"/>
          </a:p>
        </p:txBody>
      </p:sp>
      <p:sp>
        <p:nvSpPr>
          <p:cNvPr id="8" name="Text 6"/>
          <p:cNvSpPr/>
          <p:nvPr/>
        </p:nvSpPr>
        <p:spPr>
          <a:xfrm>
            <a:off x="1005840" y="4023360"/>
            <a:ext cx="4389120" cy="1828800"/>
          </a:xfrm>
          <a:prstGeom prst="rect">
            <a:avLst/>
          </a:prstGeom>
          <a:noFill/>
          <a:ln/>
        </p:spPr>
        <p:txBody>
          <a:bodyPr wrap="square" lIns="0" tIns="0" rIns="0" bIns="0" rtlCol="0" anchor="ctr"/>
          <a:lstStyle/>
          <a:p>
            <a:pPr indent="0" marL="0">
              <a:lnSpc>
                <a:spcPts val="3000"/>
              </a:lnSpc>
              <a:buNone/>
            </a:pPr>
            <a:r>
              <a:rPr lang="en-US" sz="1500" dirty="0">
                <a:solidFill>
                  <a:srgbClr val="8AA0C8"/>
                </a:solidFill>
                <a:latin typeface="Consolas" pitchFamily="34" charset="0"/>
                <a:ea typeface="Consolas" pitchFamily="34" charset="-122"/>
                <a:cs typeface="Consolas" pitchFamily="34" charset="-120"/>
              </a:rPr>
              <a:t>language</a:t>
            </a:r>
            <a:pPr indent="0" marL="0">
              <a:lnSpc>
                <a:spcPts val="3000"/>
              </a:lnSpc>
              <a:buNone/>
            </a:pPr>
            <a:r>
              <a:rPr lang="en-US" sz="1500" b="1" dirty="0">
                <a:solidFill>
                  <a:srgbClr val="FFFFFF"/>
                </a:solidFill>
                <a:latin typeface="Consolas" pitchFamily="34" charset="0"/>
                <a:ea typeface="Consolas" pitchFamily="34" charset="-122"/>
                <a:cs typeface="Consolas" pitchFamily="34" charset="-120"/>
              </a:rPr>
              <a:t>   French</a:t>
            </a:r>
            <a:endParaRPr lang="en-US" sz="1500" dirty="0"/>
          </a:p>
          <a:p>
            <a:pPr indent="0" marL="0">
              <a:lnSpc>
                <a:spcPts val="3000"/>
              </a:lnSpc>
              <a:buNone/>
            </a:pPr>
            <a:r>
              <a:rPr lang="en-US" sz="1500" dirty="0">
                <a:solidFill>
                  <a:srgbClr val="8AA0C8"/>
                </a:solidFill>
                <a:latin typeface="Consolas" pitchFamily="34" charset="0"/>
                <a:ea typeface="Consolas" pitchFamily="34" charset="-122"/>
                <a:cs typeface="Consolas" pitchFamily="34" charset="-120"/>
              </a:rPr>
              <a:t>subject</a:t>
            </a:r>
            <a:pPr indent="0" marL="0">
              <a:lnSpc>
                <a:spcPts val="3000"/>
              </a:lnSpc>
              <a:buNone/>
            </a:pPr>
            <a:r>
              <a:rPr lang="en-US" sz="1500" b="1" dirty="0">
                <a:solidFill>
                  <a:srgbClr val="FFFFFF"/>
                </a:solidFill>
                <a:latin typeface="Consolas" pitchFamily="34" charset="0"/>
                <a:ea typeface="Consolas" pitchFamily="34" charset="-122"/>
                <a:cs typeface="Consolas" pitchFamily="34" charset="-120"/>
              </a:rPr>
              <a:t>    Biology</a:t>
            </a:r>
            <a:endParaRPr lang="en-US" sz="1500" dirty="0"/>
          </a:p>
          <a:p>
            <a:pPr indent="0" marL="0">
              <a:lnSpc>
                <a:spcPts val="3000"/>
              </a:lnSpc>
              <a:buNone/>
            </a:pPr>
            <a:r>
              <a:rPr lang="en-US" sz="1500" dirty="0">
                <a:solidFill>
                  <a:srgbClr val="8AA0C8"/>
                </a:solidFill>
                <a:latin typeface="Consolas" pitchFamily="34" charset="0"/>
                <a:ea typeface="Consolas" pitchFamily="34" charset="-122"/>
                <a:cs typeface="Consolas" pitchFamily="34" charset="-120"/>
              </a:rPr>
              <a:t>concept</a:t>
            </a:r>
            <a:pPr indent="0" marL="0">
              <a:lnSpc>
                <a:spcPts val="3000"/>
              </a:lnSpc>
              <a:buNone/>
            </a:pPr>
            <a:r>
              <a:rPr lang="en-US" sz="1500" b="1" dirty="0">
                <a:solidFill>
                  <a:srgbClr val="FFFFFF"/>
                </a:solidFill>
                <a:latin typeface="Consolas" pitchFamily="34" charset="0"/>
                <a:ea typeface="Consolas" pitchFamily="34" charset="-122"/>
                <a:cs typeface="Consolas" pitchFamily="34" charset="-120"/>
              </a:rPr>
              <a:t>    DNA &amp; genetics</a:t>
            </a:r>
            <a:endParaRPr lang="en-US" sz="1500" dirty="0"/>
          </a:p>
          <a:p>
            <a:pPr indent="0" marL="0">
              <a:lnSpc>
                <a:spcPts val="3000"/>
              </a:lnSpc>
              <a:buNone/>
            </a:pPr>
            <a:r>
              <a:rPr lang="en-US" sz="1500" dirty="0">
                <a:solidFill>
                  <a:srgbClr val="8AA0C8"/>
                </a:solidFill>
                <a:latin typeface="Consolas" pitchFamily="34" charset="0"/>
                <a:ea typeface="Consolas" pitchFamily="34" charset="-122"/>
                <a:cs typeface="Consolas" pitchFamily="34" charset="-120"/>
              </a:rPr>
              <a:t>level</a:t>
            </a:r>
            <a:pPr indent="0" marL="0">
              <a:lnSpc>
                <a:spcPts val="3000"/>
              </a:lnSpc>
              <a:buNone/>
            </a:pPr>
            <a:r>
              <a:rPr lang="en-US" sz="1500" b="1" dirty="0">
                <a:solidFill>
                  <a:srgbClr val="FFFFFF"/>
                </a:solidFill>
                <a:latin typeface="Consolas" pitchFamily="34" charset="0"/>
                <a:ea typeface="Consolas" pitchFamily="34" charset="-122"/>
                <a:cs typeface="Consolas" pitchFamily="34" charset="-120"/>
              </a:rPr>
              <a:t>      Beginner</a:t>
            </a:r>
            <a:endParaRPr lang="en-US" sz="1500" dirty="0"/>
          </a:p>
          <a:p>
            <a:pPr indent="0" marL="0">
              <a:lnSpc>
                <a:spcPts val="3000"/>
              </a:lnSpc>
              <a:buNone/>
            </a:pPr>
            <a:r>
              <a:rPr lang="en-US" sz="1500" dirty="0">
                <a:solidFill>
                  <a:srgbClr val="8AA0C8"/>
                </a:solidFill>
                <a:latin typeface="Consolas" pitchFamily="34" charset="0"/>
                <a:ea typeface="Consolas" pitchFamily="34" charset="-122"/>
                <a:cs typeface="Consolas" pitchFamily="34" charset="-120"/>
              </a:rPr>
              <a:t>matched</a:t>
            </a:r>
            <a:pPr indent="0" marL="0">
              <a:lnSpc>
                <a:spcPts val="3000"/>
              </a:lnSpc>
              <a:buNone/>
            </a:pPr>
            <a:r>
              <a:rPr lang="en-US" sz="1500" b="1" dirty="0">
                <a:solidFill>
                  <a:srgbClr val="A78BFA"/>
                </a:solidFill>
                <a:latin typeface="Consolas" pitchFamily="34" charset="0"/>
                <a:ea typeface="Consolas" pitchFamily="34" charset="-122"/>
                <a:cs typeface="Consolas" pitchFamily="34" charset="-120"/>
              </a:rPr>
              <a:t>  3 courses + reason</a:t>
            </a:r>
            <a:endParaRPr lang="en-US" sz="1500" dirty="0"/>
          </a:p>
        </p:txBody>
      </p:sp>
      <p:sp>
        <p:nvSpPr>
          <p:cNvPr id="9" name="Text 7"/>
          <p:cNvSpPr/>
          <p:nvPr/>
        </p:nvSpPr>
        <p:spPr>
          <a:xfrm>
            <a:off x="6126480" y="1691640"/>
            <a:ext cx="5422392" cy="365760"/>
          </a:xfrm>
          <a:prstGeom prst="rect">
            <a:avLst/>
          </a:prstGeom>
          <a:noFill/>
          <a:ln/>
        </p:spPr>
        <p:txBody>
          <a:bodyPr wrap="square" lIns="0" tIns="0" rIns="0" bIns="0" rtlCol="0" anchor="ctr"/>
          <a:lstStyle/>
          <a:p>
            <a:pPr indent="0" marL="0">
              <a:buNone/>
            </a:pPr>
            <a:r>
              <a:rPr lang="en-US" sz="1300" b="1" dirty="0">
                <a:solidFill>
                  <a:srgbClr val="111827"/>
                </a:solidFill>
              </a:rPr>
              <a:t>Same search bar, four languages, four subjects:</a:t>
            </a:r>
            <a:endParaRPr lang="en-US" sz="1300" dirty="0"/>
          </a:p>
        </p:txBody>
      </p:sp>
      <p:sp>
        <p:nvSpPr>
          <p:cNvPr id="10" name="Shape 8"/>
          <p:cNvSpPr/>
          <p:nvPr/>
        </p:nvSpPr>
        <p:spPr>
          <a:xfrm>
            <a:off x="6126480" y="2194560"/>
            <a:ext cx="5422392" cy="868680"/>
          </a:xfrm>
          <a:prstGeom prst="roundRect">
            <a:avLst>
              <a:gd name="adj" fmla="val 8421"/>
            </a:avLst>
          </a:prstGeom>
          <a:solidFill>
            <a:srgbClr val="F9FAFB"/>
          </a:solidFill>
          <a:ln w="12700">
            <a:solidFill>
              <a:srgbClr val="E5E7EB"/>
            </a:solidFill>
            <a:prstDash val="solid"/>
          </a:ln>
        </p:spPr>
      </p:sp>
      <p:sp>
        <p:nvSpPr>
          <p:cNvPr id="11" name="Text 9"/>
          <p:cNvSpPr/>
          <p:nvPr/>
        </p:nvSpPr>
        <p:spPr>
          <a:xfrm>
            <a:off x="6400800" y="2313432"/>
            <a:ext cx="4873752" cy="365760"/>
          </a:xfrm>
          <a:prstGeom prst="rect">
            <a:avLst/>
          </a:prstGeom>
          <a:noFill/>
          <a:ln/>
        </p:spPr>
        <p:txBody>
          <a:bodyPr wrap="square" lIns="0" tIns="0" rIns="0" bIns="0" rtlCol="0" anchor="ctr"/>
          <a:lstStyle/>
          <a:p>
            <a:pPr indent="0" marL="0">
              <a:buNone/>
            </a:pPr>
            <a:r>
              <a:rPr lang="en-US" sz="1400" b="1" dirty="0">
                <a:solidFill>
                  <a:srgbClr val="111827"/>
                </a:solidFill>
              </a:rPr>
              <a:t>“मुझे photosynthesis समझाओ”</a:t>
            </a:r>
            <a:endParaRPr lang="en-US" sz="1400" dirty="0"/>
          </a:p>
        </p:txBody>
      </p:sp>
      <p:sp>
        <p:nvSpPr>
          <p:cNvPr id="12" name="Text 10"/>
          <p:cNvSpPr/>
          <p:nvPr/>
        </p:nvSpPr>
        <p:spPr>
          <a:xfrm>
            <a:off x="6400800" y="2670048"/>
            <a:ext cx="4873752" cy="292608"/>
          </a:xfrm>
          <a:prstGeom prst="rect">
            <a:avLst/>
          </a:prstGeom>
          <a:noFill/>
          <a:ln/>
        </p:spPr>
        <p:txBody>
          <a:bodyPr wrap="square" lIns="0" tIns="0" rIns="0" bIns="0" rtlCol="0" anchor="ctr"/>
          <a:lstStyle/>
          <a:p>
            <a:pPr indent="0" marL="0">
              <a:buNone/>
            </a:pPr>
            <a:r>
              <a:rPr lang="en-US" sz="1150" dirty="0">
                <a:solidFill>
                  <a:srgbClr val="2563EB"/>
                </a:solidFill>
              </a:rPr>
              <a:t>Hindi → Biology · Photosynthesis</a:t>
            </a:r>
            <a:endParaRPr lang="en-US" sz="1150" dirty="0"/>
          </a:p>
        </p:txBody>
      </p:sp>
      <p:sp>
        <p:nvSpPr>
          <p:cNvPr id="13" name="Shape 11"/>
          <p:cNvSpPr/>
          <p:nvPr/>
        </p:nvSpPr>
        <p:spPr>
          <a:xfrm>
            <a:off x="6126480" y="3172968"/>
            <a:ext cx="5422392" cy="868680"/>
          </a:xfrm>
          <a:prstGeom prst="roundRect">
            <a:avLst>
              <a:gd name="adj" fmla="val 8421"/>
            </a:avLst>
          </a:prstGeom>
          <a:solidFill>
            <a:srgbClr val="F9FAFB"/>
          </a:solidFill>
          <a:ln w="12700">
            <a:solidFill>
              <a:srgbClr val="E5E7EB"/>
            </a:solidFill>
            <a:prstDash val="solid"/>
          </a:ln>
        </p:spPr>
      </p:sp>
      <p:sp>
        <p:nvSpPr>
          <p:cNvPr id="14" name="Text 12"/>
          <p:cNvSpPr/>
          <p:nvPr/>
        </p:nvSpPr>
        <p:spPr>
          <a:xfrm>
            <a:off x="6400800" y="3291840"/>
            <a:ext cx="4873752" cy="365760"/>
          </a:xfrm>
          <a:prstGeom prst="rect">
            <a:avLst/>
          </a:prstGeom>
          <a:noFill/>
          <a:ln/>
        </p:spPr>
        <p:txBody>
          <a:bodyPr wrap="square" lIns="0" tIns="0" rIns="0" bIns="0" rtlCol="0" anchor="ctr"/>
          <a:lstStyle/>
          <a:p>
            <a:pPr indent="0" marL="0">
              <a:buNone/>
            </a:pPr>
            <a:r>
              <a:rPr lang="en-US" sz="1400" b="1" dirty="0">
                <a:solidFill>
                  <a:srgbClr val="111827"/>
                </a:solidFill>
              </a:rPr>
              <a:t>“Why does gravity work?”</a:t>
            </a:r>
            <a:endParaRPr lang="en-US" sz="1400" dirty="0"/>
          </a:p>
        </p:txBody>
      </p:sp>
      <p:sp>
        <p:nvSpPr>
          <p:cNvPr id="15" name="Text 13"/>
          <p:cNvSpPr/>
          <p:nvPr/>
        </p:nvSpPr>
        <p:spPr>
          <a:xfrm>
            <a:off x="6400800" y="3648456"/>
            <a:ext cx="4873752" cy="292608"/>
          </a:xfrm>
          <a:prstGeom prst="rect">
            <a:avLst/>
          </a:prstGeom>
          <a:noFill/>
          <a:ln/>
        </p:spPr>
        <p:txBody>
          <a:bodyPr wrap="square" lIns="0" tIns="0" rIns="0" bIns="0" rtlCol="0" anchor="ctr"/>
          <a:lstStyle/>
          <a:p>
            <a:pPr indent="0" marL="0">
              <a:buNone/>
            </a:pPr>
            <a:r>
              <a:rPr lang="en-US" sz="1150" dirty="0">
                <a:solidFill>
                  <a:srgbClr val="2563EB"/>
                </a:solidFill>
              </a:rPr>
              <a:t>English → Physics · Gravitation</a:t>
            </a:r>
            <a:endParaRPr lang="en-US" sz="1150" dirty="0"/>
          </a:p>
        </p:txBody>
      </p:sp>
      <p:sp>
        <p:nvSpPr>
          <p:cNvPr id="16" name="Shape 14"/>
          <p:cNvSpPr/>
          <p:nvPr/>
        </p:nvSpPr>
        <p:spPr>
          <a:xfrm>
            <a:off x="6126480" y="4151376"/>
            <a:ext cx="5422392" cy="868680"/>
          </a:xfrm>
          <a:prstGeom prst="roundRect">
            <a:avLst>
              <a:gd name="adj" fmla="val 8421"/>
            </a:avLst>
          </a:prstGeom>
          <a:solidFill>
            <a:srgbClr val="F9FAFB"/>
          </a:solidFill>
          <a:ln w="12700">
            <a:solidFill>
              <a:srgbClr val="E5E7EB"/>
            </a:solidFill>
            <a:prstDash val="solid"/>
          </a:ln>
        </p:spPr>
      </p:sp>
      <p:sp>
        <p:nvSpPr>
          <p:cNvPr id="17" name="Text 15"/>
          <p:cNvSpPr/>
          <p:nvPr/>
        </p:nvSpPr>
        <p:spPr>
          <a:xfrm>
            <a:off x="6400800" y="4270248"/>
            <a:ext cx="4873752" cy="365760"/>
          </a:xfrm>
          <a:prstGeom prst="rect">
            <a:avLst/>
          </a:prstGeom>
          <a:noFill/>
          <a:ln/>
        </p:spPr>
        <p:txBody>
          <a:bodyPr wrap="square" lIns="0" tIns="0" rIns="0" bIns="0" rtlCol="0" anchor="ctr"/>
          <a:lstStyle/>
          <a:p>
            <a:pPr indent="0" marL="0">
              <a:buNone/>
            </a:pPr>
            <a:r>
              <a:rPr lang="en-US" sz="1400" b="1" dirty="0">
                <a:solidFill>
                  <a:srgbClr val="111827"/>
                </a:solidFill>
              </a:rPr>
              <a:t>“Qu'est-ce que l'ADN ?”</a:t>
            </a:r>
            <a:endParaRPr lang="en-US" sz="1400" dirty="0"/>
          </a:p>
        </p:txBody>
      </p:sp>
      <p:sp>
        <p:nvSpPr>
          <p:cNvPr id="18" name="Text 16"/>
          <p:cNvSpPr/>
          <p:nvPr/>
        </p:nvSpPr>
        <p:spPr>
          <a:xfrm>
            <a:off x="6400800" y="4626864"/>
            <a:ext cx="4873752" cy="292608"/>
          </a:xfrm>
          <a:prstGeom prst="rect">
            <a:avLst/>
          </a:prstGeom>
          <a:noFill/>
          <a:ln/>
        </p:spPr>
        <p:txBody>
          <a:bodyPr wrap="square" lIns="0" tIns="0" rIns="0" bIns="0" rtlCol="0" anchor="ctr"/>
          <a:lstStyle/>
          <a:p>
            <a:pPr indent="0" marL="0">
              <a:buNone/>
            </a:pPr>
            <a:r>
              <a:rPr lang="en-US" sz="1150" dirty="0">
                <a:solidFill>
                  <a:srgbClr val="2563EB"/>
                </a:solidFill>
              </a:rPr>
              <a:t>French → Biology · Genetics</a:t>
            </a:r>
            <a:endParaRPr lang="en-US" sz="1150" dirty="0"/>
          </a:p>
        </p:txBody>
      </p:sp>
      <p:sp>
        <p:nvSpPr>
          <p:cNvPr id="19" name="Shape 17"/>
          <p:cNvSpPr/>
          <p:nvPr/>
        </p:nvSpPr>
        <p:spPr>
          <a:xfrm>
            <a:off x="6126480" y="5129784"/>
            <a:ext cx="5422392" cy="868680"/>
          </a:xfrm>
          <a:prstGeom prst="roundRect">
            <a:avLst>
              <a:gd name="adj" fmla="val 8421"/>
            </a:avLst>
          </a:prstGeom>
          <a:solidFill>
            <a:srgbClr val="F9FAFB"/>
          </a:solidFill>
          <a:ln w="12700">
            <a:solidFill>
              <a:srgbClr val="E5E7EB"/>
            </a:solidFill>
            <a:prstDash val="solid"/>
          </a:ln>
        </p:spPr>
      </p:sp>
      <p:sp>
        <p:nvSpPr>
          <p:cNvPr id="20" name="Text 18"/>
          <p:cNvSpPr/>
          <p:nvPr/>
        </p:nvSpPr>
        <p:spPr>
          <a:xfrm>
            <a:off x="6400800" y="5248656"/>
            <a:ext cx="4873752" cy="365760"/>
          </a:xfrm>
          <a:prstGeom prst="rect">
            <a:avLst/>
          </a:prstGeom>
          <a:noFill/>
          <a:ln/>
        </p:spPr>
        <p:txBody>
          <a:bodyPr wrap="square" lIns="0" tIns="0" rIns="0" bIns="0" rtlCol="0" anchor="ctr"/>
          <a:lstStyle/>
          <a:p>
            <a:pPr indent="0" marL="0">
              <a:buNone/>
            </a:pPr>
            <a:r>
              <a:rPr lang="en-US" sz="1400" b="1" dirty="0">
                <a:solidFill>
                  <a:srgbClr val="111827"/>
                </a:solidFill>
              </a:rPr>
              <a:t>“Erkläre die Pythagoras-Formel”</a:t>
            </a:r>
            <a:endParaRPr lang="en-US" sz="1400" dirty="0"/>
          </a:p>
        </p:txBody>
      </p:sp>
      <p:sp>
        <p:nvSpPr>
          <p:cNvPr id="21" name="Text 19"/>
          <p:cNvSpPr/>
          <p:nvPr/>
        </p:nvSpPr>
        <p:spPr>
          <a:xfrm>
            <a:off x="6400800" y="5605272"/>
            <a:ext cx="4873752" cy="292608"/>
          </a:xfrm>
          <a:prstGeom prst="rect">
            <a:avLst/>
          </a:prstGeom>
          <a:noFill/>
          <a:ln/>
        </p:spPr>
        <p:txBody>
          <a:bodyPr wrap="square" lIns="0" tIns="0" rIns="0" bIns="0" rtlCol="0" anchor="ctr"/>
          <a:lstStyle/>
          <a:p>
            <a:pPr indent="0" marL="0">
              <a:buNone/>
            </a:pPr>
            <a:r>
              <a:rPr lang="en-US" sz="1150" dirty="0">
                <a:solidFill>
                  <a:srgbClr val="2563EB"/>
                </a:solidFill>
              </a:rPr>
              <a:t>German → Mathematics · Geometry</a:t>
            </a:r>
            <a:endParaRPr lang="en-US" sz="1150" dirty="0"/>
          </a:p>
        </p:txBody>
      </p:sp>
      <p:sp>
        <p:nvSpPr>
          <p:cNvPr id="22" name="Text 20"/>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23" name="Text 21"/>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THE AI TUTOR</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A tutor that never gives you the answer</a:t>
            </a:r>
            <a:endParaRPr lang="en-US" sz="3200" dirty="0"/>
          </a:p>
        </p:txBody>
      </p:sp>
      <p:sp>
        <p:nvSpPr>
          <p:cNvPr id="5" name="Shape 3"/>
          <p:cNvSpPr/>
          <p:nvPr/>
        </p:nvSpPr>
        <p:spPr>
          <a:xfrm>
            <a:off x="640080" y="1783080"/>
            <a:ext cx="5486400" cy="4160520"/>
          </a:xfrm>
          <a:prstGeom prst="roundRect">
            <a:avLst>
              <a:gd name="adj" fmla="val 2637"/>
            </a:avLst>
          </a:prstGeom>
          <a:solidFill>
            <a:srgbClr val="F9FAFB"/>
          </a:solidFill>
          <a:ln w="12700">
            <a:solidFill>
              <a:srgbClr val="E5E7EB"/>
            </a:solidFill>
            <a:prstDash val="solid"/>
          </a:ln>
          <a:effectLst>
            <a:outerShdw sx="100000" sy="100000" kx="0" ky="0" algn="bl" rotWithShape="0" blurRad="177800" dist="50800" dir="5400000">
              <a:srgbClr val="111827">
                <a:alpha val="10000"/>
              </a:srgbClr>
            </a:outerShdw>
          </a:effectLst>
        </p:spPr>
      </p:sp>
      <p:pic>
        <p:nvPicPr>
          <p:cNvPr id="6" name="Image 0" descr="assets/i_robot.png">    </p:cNvPr>
          <p:cNvPicPr>
            <a:picLocks noChangeAspect="1"/>
          </p:cNvPicPr>
          <p:nvPr/>
        </p:nvPicPr>
        <p:blipFill>
          <a:blip r:embed="rId1"/>
          <a:stretch>
            <a:fillRect/>
          </a:stretch>
        </p:blipFill>
        <p:spPr>
          <a:xfrm>
            <a:off x="932688" y="2057400"/>
            <a:ext cx="365760" cy="365760"/>
          </a:xfrm>
          <a:prstGeom prst="rect">
            <a:avLst/>
          </a:prstGeom>
        </p:spPr>
      </p:pic>
      <p:sp>
        <p:nvSpPr>
          <p:cNvPr id="7" name="Text 4"/>
          <p:cNvSpPr/>
          <p:nvPr/>
        </p:nvSpPr>
        <p:spPr>
          <a:xfrm>
            <a:off x="1417320" y="2057400"/>
            <a:ext cx="3657600" cy="365760"/>
          </a:xfrm>
          <a:prstGeom prst="rect">
            <a:avLst/>
          </a:prstGeom>
          <a:noFill/>
          <a:ln/>
        </p:spPr>
        <p:txBody>
          <a:bodyPr wrap="square" lIns="0" tIns="0" rIns="0" bIns="0" rtlCol="0" anchor="ctr"/>
          <a:lstStyle/>
          <a:p>
            <a:pPr indent="0" marL="0">
              <a:buNone/>
            </a:pPr>
            <a:r>
              <a:rPr lang="en-US" sz="1400" b="1" dirty="0">
                <a:solidFill>
                  <a:srgbClr val="111827"/>
                </a:solidFill>
              </a:rPr>
              <a:t>Socratic Tutor</a:t>
            </a:r>
            <a:endParaRPr lang="en-US" sz="1400" dirty="0"/>
          </a:p>
        </p:txBody>
      </p:sp>
      <p:sp>
        <p:nvSpPr>
          <p:cNvPr id="8" name="Shape 5"/>
          <p:cNvSpPr/>
          <p:nvPr/>
        </p:nvSpPr>
        <p:spPr>
          <a:xfrm>
            <a:off x="2194560" y="2651760"/>
            <a:ext cx="3657600" cy="685800"/>
          </a:xfrm>
          <a:prstGeom prst="roundRect">
            <a:avLst>
              <a:gd name="adj" fmla="val 16000"/>
            </a:avLst>
          </a:prstGeom>
          <a:solidFill>
            <a:srgbClr val="2563EB"/>
          </a:solidFill>
          <a:ln/>
        </p:spPr>
      </p:sp>
      <p:sp>
        <p:nvSpPr>
          <p:cNvPr id="9" name="Text 6"/>
          <p:cNvSpPr/>
          <p:nvPr/>
        </p:nvSpPr>
        <p:spPr>
          <a:xfrm>
            <a:off x="2331720" y="2651760"/>
            <a:ext cx="3383280" cy="685800"/>
          </a:xfrm>
          <a:prstGeom prst="rect">
            <a:avLst/>
          </a:prstGeom>
          <a:noFill/>
          <a:ln/>
        </p:spPr>
        <p:txBody>
          <a:bodyPr wrap="square" lIns="0" tIns="0" rIns="0" bIns="0" rtlCol="0" anchor="ctr"/>
          <a:lstStyle/>
          <a:p>
            <a:pPr indent="0" marL="0">
              <a:buNone/>
            </a:pPr>
            <a:r>
              <a:rPr lang="en-US" sz="1250" dirty="0">
                <a:solidFill>
                  <a:srgbClr val="FFFFFF"/>
                </a:solidFill>
              </a:rPr>
              <a:t>What's the derivative of x²?</a:t>
            </a:r>
            <a:endParaRPr lang="en-US" sz="1250" dirty="0"/>
          </a:p>
        </p:txBody>
      </p:sp>
      <p:sp>
        <p:nvSpPr>
          <p:cNvPr id="10" name="Shape 7"/>
          <p:cNvSpPr/>
          <p:nvPr/>
        </p:nvSpPr>
        <p:spPr>
          <a:xfrm>
            <a:off x="914400" y="3474720"/>
            <a:ext cx="3749040" cy="960120"/>
          </a:xfrm>
          <a:prstGeom prst="roundRect">
            <a:avLst>
              <a:gd name="adj" fmla="val 11429"/>
            </a:avLst>
          </a:prstGeom>
          <a:solidFill>
            <a:srgbClr val="FFFFFF"/>
          </a:solidFill>
          <a:ln w="12700">
            <a:solidFill>
              <a:srgbClr val="E5E7EB"/>
            </a:solidFill>
            <a:prstDash val="solid"/>
          </a:ln>
        </p:spPr>
      </p:sp>
      <p:sp>
        <p:nvSpPr>
          <p:cNvPr id="11" name="Text 8"/>
          <p:cNvSpPr/>
          <p:nvPr/>
        </p:nvSpPr>
        <p:spPr>
          <a:xfrm>
            <a:off x="1051560" y="3474720"/>
            <a:ext cx="3474720" cy="960120"/>
          </a:xfrm>
          <a:prstGeom prst="rect">
            <a:avLst/>
          </a:prstGeom>
          <a:noFill/>
          <a:ln/>
        </p:spPr>
        <p:txBody>
          <a:bodyPr wrap="square" lIns="0" tIns="0" rIns="0" bIns="0" rtlCol="0" anchor="ctr"/>
          <a:lstStyle/>
          <a:p>
            <a:pPr indent="0" marL="0">
              <a:lnSpc>
                <a:spcPts val="1600"/>
              </a:lnSpc>
              <a:buNone/>
            </a:pPr>
            <a:r>
              <a:rPr lang="en-US" sz="1250" dirty="0">
                <a:solidFill>
                  <a:srgbClr val="111827"/>
                </a:solidFill>
              </a:rPr>
              <a:t>Good — let's get there together. What does a derivative measure about a curve at a point?</a:t>
            </a:r>
            <a:endParaRPr lang="en-US" sz="1250" dirty="0"/>
          </a:p>
        </p:txBody>
      </p:sp>
      <p:sp>
        <p:nvSpPr>
          <p:cNvPr id="12" name="Shape 9"/>
          <p:cNvSpPr/>
          <p:nvPr/>
        </p:nvSpPr>
        <p:spPr>
          <a:xfrm>
            <a:off x="2194560" y="4572000"/>
            <a:ext cx="3657600" cy="640080"/>
          </a:xfrm>
          <a:prstGeom prst="roundRect">
            <a:avLst>
              <a:gd name="adj" fmla="val 17143"/>
            </a:avLst>
          </a:prstGeom>
          <a:solidFill>
            <a:srgbClr val="2563EB"/>
          </a:solidFill>
          <a:ln/>
        </p:spPr>
      </p:sp>
      <p:sp>
        <p:nvSpPr>
          <p:cNvPr id="13" name="Text 10"/>
          <p:cNvSpPr/>
          <p:nvPr/>
        </p:nvSpPr>
        <p:spPr>
          <a:xfrm>
            <a:off x="2331720" y="4572000"/>
            <a:ext cx="3383280" cy="640080"/>
          </a:xfrm>
          <a:prstGeom prst="rect">
            <a:avLst/>
          </a:prstGeom>
          <a:noFill/>
          <a:ln/>
        </p:spPr>
        <p:txBody>
          <a:bodyPr wrap="square" lIns="0" tIns="0" rIns="0" bIns="0" rtlCol="0" anchor="ctr"/>
          <a:lstStyle/>
          <a:p>
            <a:pPr indent="0" marL="0">
              <a:buNone/>
            </a:pPr>
            <a:r>
              <a:rPr lang="en-US" sz="1250" dirty="0">
                <a:solidFill>
                  <a:srgbClr val="FFFFFF"/>
                </a:solidFill>
              </a:rPr>
              <a:t>The slope?</a:t>
            </a:r>
            <a:endParaRPr lang="en-US" sz="1250" dirty="0"/>
          </a:p>
        </p:txBody>
      </p:sp>
      <p:sp>
        <p:nvSpPr>
          <p:cNvPr id="14" name="Shape 11"/>
          <p:cNvSpPr/>
          <p:nvPr/>
        </p:nvSpPr>
        <p:spPr>
          <a:xfrm>
            <a:off x="914400" y="5349240"/>
            <a:ext cx="3749040" cy="457200"/>
          </a:xfrm>
          <a:prstGeom prst="roundRect">
            <a:avLst>
              <a:gd name="adj" fmla="val 24000"/>
            </a:avLst>
          </a:prstGeom>
          <a:solidFill>
            <a:srgbClr val="FFFFFF"/>
          </a:solidFill>
          <a:ln w="12700">
            <a:solidFill>
              <a:srgbClr val="E5E7EB"/>
            </a:solidFill>
            <a:prstDash val="solid"/>
          </a:ln>
        </p:spPr>
      </p:sp>
      <p:sp>
        <p:nvSpPr>
          <p:cNvPr id="15" name="Text 12"/>
          <p:cNvSpPr/>
          <p:nvPr/>
        </p:nvSpPr>
        <p:spPr>
          <a:xfrm>
            <a:off x="1051560" y="5349240"/>
            <a:ext cx="3474720" cy="457200"/>
          </a:xfrm>
          <a:prstGeom prst="rect">
            <a:avLst/>
          </a:prstGeom>
          <a:noFill/>
          <a:ln/>
        </p:spPr>
        <p:txBody>
          <a:bodyPr wrap="square" lIns="0" tIns="0" rIns="0" bIns="0" rtlCol="0" anchor="ctr"/>
          <a:lstStyle/>
          <a:p>
            <a:pPr indent="0" marL="0">
              <a:buNone/>
            </a:pPr>
            <a:r>
              <a:rPr lang="en-US" sz="1250" dirty="0">
                <a:solidFill>
                  <a:srgbClr val="111827"/>
                </a:solidFill>
              </a:rPr>
              <a:t>Exactly. So what changes as x grows?</a:t>
            </a:r>
            <a:endParaRPr lang="en-US" sz="1250" dirty="0"/>
          </a:p>
        </p:txBody>
      </p:sp>
      <p:sp>
        <p:nvSpPr>
          <p:cNvPr id="16" name="Shape 13"/>
          <p:cNvSpPr/>
          <p:nvPr/>
        </p:nvSpPr>
        <p:spPr>
          <a:xfrm>
            <a:off x="6355080" y="1783080"/>
            <a:ext cx="5193792" cy="1280160"/>
          </a:xfrm>
          <a:prstGeom prst="roundRect">
            <a:avLst>
              <a:gd name="adj" fmla="val 7143"/>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17" name="Shape 14"/>
          <p:cNvSpPr/>
          <p:nvPr/>
        </p:nvSpPr>
        <p:spPr>
          <a:xfrm>
            <a:off x="6629400" y="2075688"/>
            <a:ext cx="713232" cy="713232"/>
          </a:xfrm>
          <a:prstGeom prst="roundRect">
            <a:avLst>
              <a:gd name="adj" fmla="val 15385"/>
            </a:avLst>
          </a:prstGeom>
          <a:solidFill>
            <a:srgbClr val="F9FAFB"/>
          </a:solidFill>
          <a:ln w="12700">
            <a:solidFill>
              <a:srgbClr val="E5E7EB"/>
            </a:solidFill>
            <a:prstDash val="solid"/>
          </a:ln>
        </p:spPr>
      </p:sp>
      <p:pic>
        <p:nvPicPr>
          <p:cNvPr id="18" name="Image 1" descr="assets/i_chat.png">    </p:cNvPr>
          <p:cNvPicPr>
            <a:picLocks noChangeAspect="1"/>
          </p:cNvPicPr>
          <p:nvPr/>
        </p:nvPicPr>
        <p:blipFill>
          <a:blip r:embed="rId2"/>
          <a:stretch>
            <a:fillRect/>
          </a:stretch>
        </p:blipFill>
        <p:spPr>
          <a:xfrm>
            <a:off x="6784848" y="2231136"/>
            <a:ext cx="402336" cy="402336"/>
          </a:xfrm>
          <a:prstGeom prst="rect">
            <a:avLst/>
          </a:prstGeom>
        </p:spPr>
      </p:pic>
      <p:sp>
        <p:nvSpPr>
          <p:cNvPr id="19" name="Text 15"/>
          <p:cNvSpPr/>
          <p:nvPr/>
        </p:nvSpPr>
        <p:spPr>
          <a:xfrm>
            <a:off x="7543800" y="2039112"/>
            <a:ext cx="3730752" cy="365760"/>
          </a:xfrm>
          <a:prstGeom prst="rect">
            <a:avLst/>
          </a:prstGeom>
          <a:noFill/>
          <a:ln/>
        </p:spPr>
        <p:txBody>
          <a:bodyPr wrap="square" lIns="0" tIns="0" rIns="0" bIns="0" rtlCol="0" anchor="ctr"/>
          <a:lstStyle/>
          <a:p>
            <a:pPr indent="0" marL="0">
              <a:buNone/>
            </a:pPr>
            <a:r>
              <a:rPr lang="en-US" sz="1550" b="1" dirty="0">
                <a:solidFill>
                  <a:srgbClr val="111827"/>
                </a:solidFill>
              </a:rPr>
              <a:t>Asks, never tells</a:t>
            </a:r>
            <a:endParaRPr lang="en-US" sz="1550" dirty="0"/>
          </a:p>
        </p:txBody>
      </p:sp>
      <p:sp>
        <p:nvSpPr>
          <p:cNvPr id="20" name="Text 16"/>
          <p:cNvSpPr/>
          <p:nvPr/>
        </p:nvSpPr>
        <p:spPr>
          <a:xfrm>
            <a:off x="7543800" y="2404872"/>
            <a:ext cx="3730752" cy="59436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Guiding questions and hints lead students to discover the answer themselves.</a:t>
            </a:r>
            <a:endParaRPr lang="en-US" sz="1200" dirty="0"/>
          </a:p>
        </p:txBody>
      </p:sp>
      <p:sp>
        <p:nvSpPr>
          <p:cNvPr id="21" name="Shape 17"/>
          <p:cNvSpPr/>
          <p:nvPr/>
        </p:nvSpPr>
        <p:spPr>
          <a:xfrm>
            <a:off x="6355080" y="3218688"/>
            <a:ext cx="5193792" cy="1280160"/>
          </a:xfrm>
          <a:prstGeom prst="roundRect">
            <a:avLst>
              <a:gd name="adj" fmla="val 7143"/>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22" name="Shape 18"/>
          <p:cNvSpPr/>
          <p:nvPr/>
        </p:nvSpPr>
        <p:spPr>
          <a:xfrm>
            <a:off x="6629400" y="3511296"/>
            <a:ext cx="713232" cy="713232"/>
          </a:xfrm>
          <a:prstGeom prst="roundRect">
            <a:avLst>
              <a:gd name="adj" fmla="val 15385"/>
            </a:avLst>
          </a:prstGeom>
          <a:solidFill>
            <a:srgbClr val="F9FAFB"/>
          </a:solidFill>
          <a:ln w="12700">
            <a:solidFill>
              <a:srgbClr val="E5E7EB"/>
            </a:solidFill>
            <a:prstDash val="solid"/>
          </a:ln>
        </p:spPr>
      </p:sp>
      <p:pic>
        <p:nvPicPr>
          <p:cNvPr id="23" name="Image 2" descr="assets/i_play.png">    </p:cNvPr>
          <p:cNvPicPr>
            <a:picLocks noChangeAspect="1"/>
          </p:cNvPicPr>
          <p:nvPr/>
        </p:nvPicPr>
        <p:blipFill>
          <a:blip r:embed="rId3"/>
          <a:stretch>
            <a:fillRect/>
          </a:stretch>
        </p:blipFill>
        <p:spPr>
          <a:xfrm>
            <a:off x="6784848" y="3666744"/>
            <a:ext cx="402336" cy="402336"/>
          </a:xfrm>
          <a:prstGeom prst="rect">
            <a:avLst/>
          </a:prstGeom>
        </p:spPr>
      </p:pic>
      <p:sp>
        <p:nvSpPr>
          <p:cNvPr id="24" name="Text 19"/>
          <p:cNvSpPr/>
          <p:nvPr/>
        </p:nvSpPr>
        <p:spPr>
          <a:xfrm>
            <a:off x="7543800" y="3474720"/>
            <a:ext cx="3730752" cy="365760"/>
          </a:xfrm>
          <a:prstGeom prst="rect">
            <a:avLst/>
          </a:prstGeom>
          <a:noFill/>
          <a:ln/>
        </p:spPr>
        <p:txBody>
          <a:bodyPr wrap="square" lIns="0" tIns="0" rIns="0" bIns="0" rtlCol="0" anchor="ctr"/>
          <a:lstStyle/>
          <a:p>
            <a:pPr indent="0" marL="0">
              <a:buNone/>
            </a:pPr>
            <a:r>
              <a:rPr lang="en-US" sz="1550" b="1" dirty="0">
                <a:solidFill>
                  <a:srgbClr val="111827"/>
                </a:solidFill>
              </a:rPr>
              <a:t>Anchored to the lesson</a:t>
            </a:r>
            <a:endParaRPr lang="en-US" sz="1550" dirty="0"/>
          </a:p>
        </p:txBody>
      </p:sp>
      <p:sp>
        <p:nvSpPr>
          <p:cNvPr id="25" name="Text 20"/>
          <p:cNvSpPr/>
          <p:nvPr/>
        </p:nvSpPr>
        <p:spPr>
          <a:xfrm>
            <a:off x="7543800" y="3840480"/>
            <a:ext cx="3730752" cy="59436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Stays tied to the exact material on the page — no wandering, no spoilers.</a:t>
            </a:r>
            <a:endParaRPr lang="en-US" sz="1200" dirty="0"/>
          </a:p>
        </p:txBody>
      </p:sp>
      <p:sp>
        <p:nvSpPr>
          <p:cNvPr id="26" name="Shape 21"/>
          <p:cNvSpPr/>
          <p:nvPr/>
        </p:nvSpPr>
        <p:spPr>
          <a:xfrm>
            <a:off x="6355080" y="4654296"/>
            <a:ext cx="5193792" cy="1280160"/>
          </a:xfrm>
          <a:prstGeom prst="roundRect">
            <a:avLst>
              <a:gd name="adj" fmla="val 7143"/>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sp>
        <p:nvSpPr>
          <p:cNvPr id="27" name="Shape 22"/>
          <p:cNvSpPr/>
          <p:nvPr/>
        </p:nvSpPr>
        <p:spPr>
          <a:xfrm>
            <a:off x="6629400" y="4946904"/>
            <a:ext cx="713232" cy="713232"/>
          </a:xfrm>
          <a:prstGeom prst="roundRect">
            <a:avLst>
              <a:gd name="adj" fmla="val 15385"/>
            </a:avLst>
          </a:prstGeom>
          <a:solidFill>
            <a:srgbClr val="F9FAFB"/>
          </a:solidFill>
          <a:ln w="12700">
            <a:solidFill>
              <a:srgbClr val="E5E7EB"/>
            </a:solidFill>
            <a:prstDash val="solid"/>
          </a:ln>
        </p:spPr>
      </p:sp>
      <p:pic>
        <p:nvPicPr>
          <p:cNvPr id="28" name="Image 3" descr="assets/i_lang.png">    </p:cNvPr>
          <p:cNvPicPr>
            <a:picLocks noChangeAspect="1"/>
          </p:cNvPicPr>
          <p:nvPr/>
        </p:nvPicPr>
        <p:blipFill>
          <a:blip r:embed="rId4"/>
          <a:stretch>
            <a:fillRect/>
          </a:stretch>
        </p:blipFill>
        <p:spPr>
          <a:xfrm>
            <a:off x="6784848" y="5102352"/>
            <a:ext cx="402336" cy="402336"/>
          </a:xfrm>
          <a:prstGeom prst="rect">
            <a:avLst/>
          </a:prstGeom>
        </p:spPr>
      </p:pic>
      <p:sp>
        <p:nvSpPr>
          <p:cNvPr id="29" name="Text 23"/>
          <p:cNvSpPr/>
          <p:nvPr/>
        </p:nvSpPr>
        <p:spPr>
          <a:xfrm>
            <a:off x="7543800" y="4910328"/>
            <a:ext cx="3730752" cy="365760"/>
          </a:xfrm>
          <a:prstGeom prst="rect">
            <a:avLst/>
          </a:prstGeom>
          <a:noFill/>
          <a:ln/>
        </p:spPr>
        <p:txBody>
          <a:bodyPr wrap="square" lIns="0" tIns="0" rIns="0" bIns="0" rtlCol="0" anchor="ctr"/>
          <a:lstStyle/>
          <a:p>
            <a:pPr indent="0" marL="0">
              <a:buNone/>
            </a:pPr>
            <a:r>
              <a:rPr lang="en-US" sz="1550" b="1" dirty="0">
                <a:solidFill>
                  <a:srgbClr val="111827"/>
                </a:solidFill>
              </a:rPr>
              <a:t>Replies in your language</a:t>
            </a:r>
            <a:endParaRPr lang="en-US" sz="1550" dirty="0"/>
          </a:p>
        </p:txBody>
      </p:sp>
      <p:sp>
        <p:nvSpPr>
          <p:cNvPr id="30" name="Text 24"/>
          <p:cNvSpPr/>
          <p:nvPr/>
        </p:nvSpPr>
        <p:spPr>
          <a:xfrm>
            <a:off x="7543800" y="5276088"/>
            <a:ext cx="3730752" cy="59436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Responds in whatever language the student writes in, every time.</a:t>
            </a:r>
            <a:endParaRPr lang="en-US" sz="1200" dirty="0"/>
          </a:p>
        </p:txBody>
      </p:sp>
      <p:sp>
        <p:nvSpPr>
          <p:cNvPr id="31" name="Text 25"/>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32" name="Text 26"/>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SEE IT LIVE</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A real, funded product — not a prototype</a:t>
            </a:r>
            <a:endParaRPr lang="en-US" sz="3200" dirty="0"/>
          </a:p>
        </p:txBody>
      </p:sp>
      <p:sp>
        <p:nvSpPr>
          <p:cNvPr id="5" name="Shape 3"/>
          <p:cNvSpPr/>
          <p:nvPr/>
        </p:nvSpPr>
        <p:spPr>
          <a:xfrm>
            <a:off x="4709160" y="1755648"/>
            <a:ext cx="6912864" cy="4375404"/>
          </a:xfrm>
          <a:prstGeom prst="roundRect">
            <a:avLst>
              <a:gd name="adj" fmla="val 1672"/>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pic>
        <p:nvPicPr>
          <p:cNvPr id="6" name="Image 0" descr="assets/home.png">    </p:cNvPr>
          <p:cNvPicPr>
            <a:picLocks noChangeAspect="1"/>
          </p:cNvPicPr>
          <p:nvPr/>
        </p:nvPicPr>
        <p:blipFill>
          <a:blip r:embed="rId1"/>
          <a:stretch>
            <a:fillRect/>
          </a:stretch>
        </p:blipFill>
        <p:spPr>
          <a:xfrm>
            <a:off x="4782312" y="1828800"/>
            <a:ext cx="6766560" cy="4229100"/>
          </a:xfrm>
          <a:prstGeom prst="rect">
            <a:avLst/>
          </a:prstGeom>
        </p:spPr>
      </p:pic>
      <p:pic>
        <p:nvPicPr>
          <p:cNvPr id="7" name="Image 1" descr="assets/i_check.png">    </p:cNvPr>
          <p:cNvPicPr>
            <a:picLocks noChangeAspect="1"/>
          </p:cNvPicPr>
          <p:nvPr/>
        </p:nvPicPr>
        <p:blipFill>
          <a:blip r:embed="rId2"/>
          <a:stretch>
            <a:fillRect/>
          </a:stretch>
        </p:blipFill>
        <p:spPr>
          <a:xfrm>
            <a:off x="640080" y="2039112"/>
            <a:ext cx="292608" cy="292608"/>
          </a:xfrm>
          <a:prstGeom prst="rect">
            <a:avLst/>
          </a:prstGeom>
        </p:spPr>
      </p:pic>
      <p:sp>
        <p:nvSpPr>
          <p:cNvPr id="8" name="Text 4"/>
          <p:cNvSpPr/>
          <p:nvPr/>
        </p:nvSpPr>
        <p:spPr>
          <a:xfrm>
            <a:off x="1097280" y="2011680"/>
            <a:ext cx="4206240" cy="365760"/>
          </a:xfrm>
          <a:prstGeom prst="rect">
            <a:avLst/>
          </a:prstGeom>
          <a:noFill/>
          <a:ln/>
        </p:spPr>
        <p:txBody>
          <a:bodyPr wrap="square" lIns="0" tIns="0" rIns="0" bIns="0" rtlCol="0" anchor="ctr"/>
          <a:lstStyle/>
          <a:p>
            <a:pPr indent="0" marL="0">
              <a:buNone/>
            </a:pPr>
            <a:r>
              <a:rPr lang="en-US" sz="1450" b="1" dirty="0">
                <a:solidFill>
                  <a:srgbClr val="111827"/>
                </a:solidFill>
              </a:rPr>
              <a:t>Multilingual search front and center</a:t>
            </a:r>
            <a:endParaRPr lang="en-US" sz="1450" dirty="0"/>
          </a:p>
        </p:txBody>
      </p:sp>
      <p:sp>
        <p:nvSpPr>
          <p:cNvPr id="9" name="Text 5"/>
          <p:cNvSpPr/>
          <p:nvPr/>
        </p:nvSpPr>
        <p:spPr>
          <a:xfrm>
            <a:off x="1097280" y="2395728"/>
            <a:ext cx="4160520" cy="73152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One bar, any language, no signup required to start.</a:t>
            </a:r>
            <a:endParaRPr lang="en-US" sz="1200" dirty="0"/>
          </a:p>
        </p:txBody>
      </p:sp>
      <p:pic>
        <p:nvPicPr>
          <p:cNvPr id="10" name="Image 2" descr="assets/i_check.png">    </p:cNvPr>
          <p:cNvPicPr>
            <a:picLocks noChangeAspect="1"/>
          </p:cNvPicPr>
          <p:nvPr/>
        </p:nvPicPr>
        <p:blipFill>
          <a:blip r:embed="rId3"/>
          <a:stretch>
            <a:fillRect/>
          </a:stretch>
        </p:blipFill>
        <p:spPr>
          <a:xfrm>
            <a:off x="640080" y="3319272"/>
            <a:ext cx="292608" cy="292608"/>
          </a:xfrm>
          <a:prstGeom prst="rect">
            <a:avLst/>
          </a:prstGeom>
        </p:spPr>
      </p:pic>
      <p:sp>
        <p:nvSpPr>
          <p:cNvPr id="11" name="Text 6"/>
          <p:cNvSpPr/>
          <p:nvPr/>
        </p:nvSpPr>
        <p:spPr>
          <a:xfrm>
            <a:off x="1097280" y="3291840"/>
            <a:ext cx="4206240" cy="365760"/>
          </a:xfrm>
          <a:prstGeom prst="rect">
            <a:avLst/>
          </a:prstGeom>
          <a:noFill/>
          <a:ln/>
        </p:spPr>
        <p:txBody>
          <a:bodyPr wrap="square" lIns="0" tIns="0" rIns="0" bIns="0" rtlCol="0" anchor="ctr"/>
          <a:lstStyle/>
          <a:p>
            <a:pPr indent="0" marL="0">
              <a:buNone/>
            </a:pPr>
            <a:r>
              <a:rPr lang="en-US" sz="1450" b="1" dirty="0">
                <a:solidFill>
                  <a:srgbClr val="111827"/>
                </a:solidFill>
              </a:rPr>
              <a:t>Mission stated, not buried</a:t>
            </a:r>
            <a:endParaRPr lang="en-US" sz="1450" dirty="0"/>
          </a:p>
        </p:txBody>
      </p:sp>
      <p:sp>
        <p:nvSpPr>
          <p:cNvPr id="12" name="Text 7"/>
          <p:cNvSpPr/>
          <p:nvPr/>
        </p:nvSpPr>
        <p:spPr>
          <a:xfrm>
            <a:off x="1097280" y="3675888"/>
            <a:ext cx="4160520" cy="73152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“Quality education is gatekept by geography, wealth, and language.”</a:t>
            </a:r>
            <a:endParaRPr lang="en-US" sz="1200" dirty="0"/>
          </a:p>
        </p:txBody>
      </p:sp>
      <p:pic>
        <p:nvPicPr>
          <p:cNvPr id="13" name="Image 3" descr="assets/i_check.png">    </p:cNvPr>
          <p:cNvPicPr>
            <a:picLocks noChangeAspect="1"/>
          </p:cNvPicPr>
          <p:nvPr/>
        </p:nvPicPr>
        <p:blipFill>
          <a:blip r:embed="rId4"/>
          <a:stretch>
            <a:fillRect/>
          </a:stretch>
        </p:blipFill>
        <p:spPr>
          <a:xfrm>
            <a:off x="640080" y="4599432"/>
            <a:ext cx="292608" cy="292608"/>
          </a:xfrm>
          <a:prstGeom prst="rect">
            <a:avLst/>
          </a:prstGeom>
        </p:spPr>
      </p:pic>
      <p:sp>
        <p:nvSpPr>
          <p:cNvPr id="14" name="Text 8"/>
          <p:cNvSpPr/>
          <p:nvPr/>
        </p:nvSpPr>
        <p:spPr>
          <a:xfrm>
            <a:off x="1097280" y="4572000"/>
            <a:ext cx="4206240" cy="365760"/>
          </a:xfrm>
          <a:prstGeom prst="rect">
            <a:avLst/>
          </a:prstGeom>
          <a:noFill/>
          <a:ln/>
        </p:spPr>
        <p:txBody>
          <a:bodyPr wrap="square" lIns="0" tIns="0" rIns="0" bIns="0" rtlCol="0" anchor="ctr"/>
          <a:lstStyle/>
          <a:p>
            <a:pPr indent="0" marL="0">
              <a:buNone/>
            </a:pPr>
            <a:r>
              <a:rPr lang="en-US" sz="1450" b="1" dirty="0">
                <a:solidFill>
                  <a:srgbClr val="111827"/>
                </a:solidFill>
              </a:rPr>
              <a:t>Live the moment you land</a:t>
            </a:r>
            <a:endParaRPr lang="en-US" sz="1450" dirty="0"/>
          </a:p>
        </p:txBody>
      </p:sp>
      <p:sp>
        <p:nvSpPr>
          <p:cNvPr id="15" name="Text 9"/>
          <p:cNvSpPr/>
          <p:nvPr/>
        </p:nvSpPr>
        <p:spPr>
          <a:xfrm>
            <a:off x="1097280" y="4956048"/>
            <a:ext cx="4160520" cy="731520"/>
          </a:xfrm>
          <a:prstGeom prst="rect">
            <a:avLst/>
          </a:prstGeom>
          <a:noFill/>
          <a:ln/>
        </p:spPr>
        <p:txBody>
          <a:bodyPr wrap="square" lIns="0" tIns="0" rIns="0" bIns="0" rtlCol="0" anchor="ctr"/>
          <a:lstStyle/>
          <a:p>
            <a:pPr indent="0" marL="0">
              <a:lnSpc>
                <a:spcPts val="1700"/>
              </a:lnSpc>
              <a:buNone/>
            </a:pPr>
            <a:r>
              <a:rPr lang="en-US" sz="1200" dirty="0">
                <a:solidFill>
                  <a:srgbClr val="6B7280"/>
                </a:solidFill>
              </a:rPr>
              <a:t>Suggested queries in Hindi, French and more invite a first try.</a:t>
            </a:r>
            <a:endParaRPr lang="en-US" sz="1200" dirty="0"/>
          </a:p>
        </p:txBody>
      </p:sp>
      <p:sp>
        <p:nvSpPr>
          <p:cNvPr id="16" name="Text 10"/>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17" name="Text 11"/>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THE COURSE EXPERIENCE</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Real lessons, a certificate, and offline-ready</a:t>
            </a:r>
            <a:endParaRPr lang="en-US" sz="3200" dirty="0"/>
          </a:p>
        </p:txBody>
      </p:sp>
      <p:sp>
        <p:nvSpPr>
          <p:cNvPr id="5" name="Shape 3"/>
          <p:cNvSpPr/>
          <p:nvPr/>
        </p:nvSpPr>
        <p:spPr>
          <a:xfrm>
            <a:off x="566928" y="1755648"/>
            <a:ext cx="6912864" cy="4375404"/>
          </a:xfrm>
          <a:prstGeom prst="roundRect">
            <a:avLst>
              <a:gd name="adj" fmla="val 1672"/>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pic>
        <p:nvPicPr>
          <p:cNvPr id="6" name="Image 0" descr="assets/course.png">    </p:cNvPr>
          <p:cNvPicPr>
            <a:picLocks noChangeAspect="1"/>
          </p:cNvPicPr>
          <p:nvPr/>
        </p:nvPicPr>
        <p:blipFill>
          <a:blip r:embed="rId1"/>
          <a:stretch>
            <a:fillRect/>
          </a:stretch>
        </p:blipFill>
        <p:spPr>
          <a:xfrm>
            <a:off x="640080" y="1828800"/>
            <a:ext cx="6766560" cy="4229100"/>
          </a:xfrm>
          <a:prstGeom prst="rect">
            <a:avLst/>
          </a:prstGeom>
        </p:spPr>
      </p:pic>
      <p:pic>
        <p:nvPicPr>
          <p:cNvPr id="7" name="Image 1" descr="assets/i_play.png">    </p:cNvPr>
          <p:cNvPicPr>
            <a:picLocks noChangeAspect="1"/>
          </p:cNvPicPr>
          <p:nvPr/>
        </p:nvPicPr>
        <p:blipFill>
          <a:blip r:embed="rId2"/>
          <a:stretch>
            <a:fillRect/>
          </a:stretch>
        </p:blipFill>
        <p:spPr>
          <a:xfrm>
            <a:off x="7818120" y="1911096"/>
            <a:ext cx="365760" cy="365760"/>
          </a:xfrm>
          <a:prstGeom prst="rect">
            <a:avLst/>
          </a:prstGeom>
        </p:spPr>
      </p:pic>
      <p:sp>
        <p:nvSpPr>
          <p:cNvPr id="8" name="Text 4"/>
          <p:cNvSpPr/>
          <p:nvPr/>
        </p:nvSpPr>
        <p:spPr>
          <a:xfrm>
            <a:off x="8366760" y="1874520"/>
            <a:ext cx="3182112" cy="365760"/>
          </a:xfrm>
          <a:prstGeom prst="rect">
            <a:avLst/>
          </a:prstGeom>
          <a:noFill/>
          <a:ln/>
        </p:spPr>
        <p:txBody>
          <a:bodyPr wrap="square" lIns="0" tIns="0" rIns="0" bIns="0" rtlCol="0" anchor="ctr"/>
          <a:lstStyle/>
          <a:p>
            <a:pPr indent="0" marL="0">
              <a:buNone/>
            </a:pPr>
            <a:r>
              <a:rPr lang="en-US" sz="1450" b="1" dirty="0">
                <a:solidFill>
                  <a:srgbClr val="111827"/>
                </a:solidFill>
              </a:rPr>
              <a:t>Embedded video lessons</a:t>
            </a:r>
            <a:endParaRPr lang="en-US" sz="1450" dirty="0"/>
          </a:p>
        </p:txBody>
      </p:sp>
      <p:sp>
        <p:nvSpPr>
          <p:cNvPr id="9" name="Text 5"/>
          <p:cNvSpPr/>
          <p:nvPr/>
        </p:nvSpPr>
        <p:spPr>
          <a:xfrm>
            <a:off x="8366760" y="2258568"/>
            <a:ext cx="3182112"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Real courses from CS50, 3Blue1Brown, MIT, CrashCourse and more.</a:t>
            </a:r>
            <a:endParaRPr lang="en-US" sz="1200" dirty="0"/>
          </a:p>
        </p:txBody>
      </p:sp>
      <p:pic>
        <p:nvPicPr>
          <p:cNvPr id="10" name="Image 2" descr="assets/i_cert.png">    </p:cNvPr>
          <p:cNvPicPr>
            <a:picLocks noChangeAspect="1"/>
          </p:cNvPicPr>
          <p:nvPr/>
        </p:nvPicPr>
        <p:blipFill>
          <a:blip r:embed="rId3"/>
          <a:stretch>
            <a:fillRect/>
          </a:stretch>
        </p:blipFill>
        <p:spPr>
          <a:xfrm>
            <a:off x="7818120" y="2990088"/>
            <a:ext cx="365760" cy="365760"/>
          </a:xfrm>
          <a:prstGeom prst="rect">
            <a:avLst/>
          </a:prstGeom>
        </p:spPr>
      </p:pic>
      <p:sp>
        <p:nvSpPr>
          <p:cNvPr id="11" name="Text 6"/>
          <p:cNvSpPr/>
          <p:nvPr/>
        </p:nvSpPr>
        <p:spPr>
          <a:xfrm>
            <a:off x="8366760" y="2953512"/>
            <a:ext cx="3182112" cy="365760"/>
          </a:xfrm>
          <a:prstGeom prst="rect">
            <a:avLst/>
          </a:prstGeom>
          <a:noFill/>
          <a:ln/>
        </p:spPr>
        <p:txBody>
          <a:bodyPr wrap="square" lIns="0" tIns="0" rIns="0" bIns="0" rtlCol="0" anchor="ctr"/>
          <a:lstStyle/>
          <a:p>
            <a:pPr indent="0" marL="0">
              <a:buNone/>
            </a:pPr>
            <a:r>
              <a:rPr lang="en-US" sz="1450" b="1" dirty="0">
                <a:solidFill>
                  <a:srgbClr val="111827"/>
                </a:solidFill>
              </a:rPr>
              <a:t>Certificate on completion</a:t>
            </a:r>
            <a:endParaRPr lang="en-US" sz="1450" dirty="0"/>
          </a:p>
        </p:txBody>
      </p:sp>
      <p:sp>
        <p:nvSpPr>
          <p:cNvPr id="12" name="Text 7"/>
          <p:cNvSpPr/>
          <p:nvPr/>
        </p:nvSpPr>
        <p:spPr>
          <a:xfrm>
            <a:off x="8366760" y="3337560"/>
            <a:ext cx="3182112"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A shareable credential when a student finishes the course.</a:t>
            </a:r>
            <a:endParaRPr lang="en-US" sz="1200" dirty="0"/>
          </a:p>
        </p:txBody>
      </p:sp>
      <p:pic>
        <p:nvPicPr>
          <p:cNvPr id="13" name="Image 3" descr="assets/i_building.png">    </p:cNvPr>
          <p:cNvPicPr>
            <a:picLocks noChangeAspect="1"/>
          </p:cNvPicPr>
          <p:nvPr/>
        </p:nvPicPr>
        <p:blipFill>
          <a:blip r:embed="rId4"/>
          <a:stretch>
            <a:fillRect/>
          </a:stretch>
        </p:blipFill>
        <p:spPr>
          <a:xfrm>
            <a:off x="7818120" y="4069080"/>
            <a:ext cx="365760" cy="365760"/>
          </a:xfrm>
          <a:prstGeom prst="rect">
            <a:avLst/>
          </a:prstGeom>
        </p:spPr>
      </p:pic>
      <p:sp>
        <p:nvSpPr>
          <p:cNvPr id="14" name="Text 8"/>
          <p:cNvSpPr/>
          <p:nvPr/>
        </p:nvSpPr>
        <p:spPr>
          <a:xfrm>
            <a:off x="8366760" y="4032504"/>
            <a:ext cx="3182112" cy="365760"/>
          </a:xfrm>
          <a:prstGeom prst="rect">
            <a:avLst/>
          </a:prstGeom>
          <a:noFill/>
          <a:ln/>
        </p:spPr>
        <p:txBody>
          <a:bodyPr wrap="square" lIns="0" tIns="0" rIns="0" bIns="0" rtlCol="0" anchor="ctr"/>
          <a:lstStyle/>
          <a:p>
            <a:pPr indent="0" marL="0">
              <a:buNone/>
            </a:pPr>
            <a:r>
              <a:rPr lang="en-US" sz="1450" b="1" dirty="0">
                <a:solidFill>
                  <a:srgbClr val="111827"/>
                </a:solidFill>
              </a:rPr>
              <a:t>Visible sponsor badge</a:t>
            </a:r>
            <a:endParaRPr lang="en-US" sz="1450" dirty="0"/>
          </a:p>
        </p:txBody>
      </p:sp>
      <p:sp>
        <p:nvSpPr>
          <p:cNvPr id="15" name="Text 9"/>
          <p:cNvSpPr/>
          <p:nvPr/>
        </p:nvSpPr>
        <p:spPr>
          <a:xfrm>
            <a:off x="8366760" y="4416552"/>
            <a:ext cx="3182112"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Every course shows who funds it — e.g. “Sponsored by Google.”</a:t>
            </a:r>
            <a:endParaRPr lang="en-US" sz="1200" dirty="0"/>
          </a:p>
        </p:txBody>
      </p:sp>
      <p:pic>
        <p:nvPicPr>
          <p:cNvPr id="16" name="Image 4" descr="assets/i_download.png">    </p:cNvPr>
          <p:cNvPicPr>
            <a:picLocks noChangeAspect="1"/>
          </p:cNvPicPr>
          <p:nvPr/>
        </p:nvPicPr>
        <p:blipFill>
          <a:blip r:embed="rId5"/>
          <a:stretch>
            <a:fillRect/>
          </a:stretch>
        </p:blipFill>
        <p:spPr>
          <a:xfrm>
            <a:off x="7818120" y="5148072"/>
            <a:ext cx="365760" cy="365760"/>
          </a:xfrm>
          <a:prstGeom prst="rect">
            <a:avLst/>
          </a:prstGeom>
        </p:spPr>
      </p:pic>
      <p:sp>
        <p:nvSpPr>
          <p:cNvPr id="17" name="Text 10"/>
          <p:cNvSpPr/>
          <p:nvPr/>
        </p:nvSpPr>
        <p:spPr>
          <a:xfrm>
            <a:off x="8366760" y="5111496"/>
            <a:ext cx="3182112" cy="365760"/>
          </a:xfrm>
          <a:prstGeom prst="rect">
            <a:avLst/>
          </a:prstGeom>
          <a:noFill/>
          <a:ln/>
        </p:spPr>
        <p:txBody>
          <a:bodyPr wrap="square" lIns="0" tIns="0" rIns="0" bIns="0" rtlCol="0" anchor="ctr"/>
          <a:lstStyle/>
          <a:p>
            <a:pPr indent="0" marL="0">
              <a:buNone/>
            </a:pPr>
            <a:r>
              <a:rPr lang="en-US" sz="1450" b="1" dirty="0">
                <a:solidFill>
                  <a:srgbClr val="111827"/>
                </a:solidFill>
              </a:rPr>
              <a:t>Download for offline</a:t>
            </a:r>
            <a:endParaRPr lang="en-US" sz="1450" dirty="0"/>
          </a:p>
        </p:txBody>
      </p:sp>
      <p:sp>
        <p:nvSpPr>
          <p:cNvPr id="18" name="Text 11"/>
          <p:cNvSpPr/>
          <p:nvPr/>
        </p:nvSpPr>
        <p:spPr>
          <a:xfrm>
            <a:off x="8366760" y="5495544"/>
            <a:ext cx="3182112" cy="64008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Lessons and the AI tutor work fully offline once downloaded.</a:t>
            </a:r>
            <a:endParaRPr lang="en-US" sz="1200" dirty="0"/>
          </a:p>
        </p:txBody>
      </p:sp>
      <p:sp>
        <p:nvSpPr>
          <p:cNvPr id="19" name="Text 12"/>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20" name="Text 13"/>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THE BUSINESS MODEL</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Sponsors fund the classroom</a:t>
            </a:r>
            <a:endParaRPr lang="en-US" sz="3200" dirty="0"/>
          </a:p>
        </p:txBody>
      </p:sp>
      <p:sp>
        <p:nvSpPr>
          <p:cNvPr id="5" name="Text 3"/>
          <p:cNvSpPr/>
          <p:nvPr/>
        </p:nvSpPr>
        <p:spPr>
          <a:xfrm>
            <a:off x="640080" y="1691640"/>
            <a:ext cx="10607040" cy="822960"/>
          </a:xfrm>
          <a:prstGeom prst="rect">
            <a:avLst/>
          </a:prstGeom>
          <a:noFill/>
          <a:ln/>
        </p:spPr>
        <p:txBody>
          <a:bodyPr wrap="square" lIns="0" tIns="0" rIns="0" bIns="0" rtlCol="0" anchor="ctr"/>
          <a:lstStyle/>
          <a:p>
            <a:pPr indent="0" marL="0">
              <a:lnSpc>
                <a:spcPts val="2100"/>
              </a:lnSpc>
              <a:buNone/>
            </a:pPr>
            <a:r>
              <a:rPr lang="en-US" sz="1400" dirty="0">
                <a:solidFill>
                  <a:srgbClr val="6B7280"/>
                </a:solidFill>
              </a:rPr>
              <a:t>Students never pay. Companies sponsor courses by subject category — gaining brand reach in fast-growing emerging markets, meeting CSR and education mandates, and receiving anonymized student-impact metrics.</a:t>
            </a:r>
            <a:endParaRPr lang="en-US" sz="1400" dirty="0"/>
          </a:p>
        </p:txBody>
      </p:sp>
      <p:sp>
        <p:nvSpPr>
          <p:cNvPr id="6" name="Shape 4"/>
          <p:cNvSpPr/>
          <p:nvPr/>
        </p:nvSpPr>
        <p:spPr>
          <a:xfrm>
            <a:off x="640080" y="2606040"/>
            <a:ext cx="2521458" cy="731520"/>
          </a:xfrm>
          <a:prstGeom prst="roundRect">
            <a:avLst>
              <a:gd name="adj" fmla="val 12500"/>
            </a:avLst>
          </a:prstGeom>
          <a:solidFill>
            <a:srgbClr val="F9FAFB"/>
          </a:solidFill>
          <a:ln w="12700">
            <a:solidFill>
              <a:srgbClr val="E5E7EB"/>
            </a:solidFill>
            <a:prstDash val="solid"/>
          </a:ln>
        </p:spPr>
      </p:sp>
      <p:sp>
        <p:nvSpPr>
          <p:cNvPr id="7" name="Text 5"/>
          <p:cNvSpPr/>
          <p:nvPr/>
        </p:nvSpPr>
        <p:spPr>
          <a:xfrm>
            <a:off x="640080" y="2606040"/>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Google</a:t>
            </a:r>
            <a:endParaRPr lang="en-US" sz="1600" dirty="0"/>
          </a:p>
        </p:txBody>
      </p:sp>
      <p:sp>
        <p:nvSpPr>
          <p:cNvPr id="8" name="Shape 6"/>
          <p:cNvSpPr/>
          <p:nvPr/>
        </p:nvSpPr>
        <p:spPr>
          <a:xfrm>
            <a:off x="3435858" y="2606040"/>
            <a:ext cx="2521458" cy="731520"/>
          </a:xfrm>
          <a:prstGeom prst="roundRect">
            <a:avLst>
              <a:gd name="adj" fmla="val 12500"/>
            </a:avLst>
          </a:prstGeom>
          <a:solidFill>
            <a:srgbClr val="F9FAFB"/>
          </a:solidFill>
          <a:ln w="12700">
            <a:solidFill>
              <a:srgbClr val="E5E7EB"/>
            </a:solidFill>
            <a:prstDash val="solid"/>
          </a:ln>
        </p:spPr>
      </p:sp>
      <p:sp>
        <p:nvSpPr>
          <p:cNvPr id="9" name="Text 7"/>
          <p:cNvSpPr/>
          <p:nvPr/>
        </p:nvSpPr>
        <p:spPr>
          <a:xfrm>
            <a:off x="3435858" y="2606040"/>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SAP</a:t>
            </a:r>
            <a:endParaRPr lang="en-US" sz="1600" dirty="0"/>
          </a:p>
        </p:txBody>
      </p:sp>
      <p:sp>
        <p:nvSpPr>
          <p:cNvPr id="10" name="Shape 8"/>
          <p:cNvSpPr/>
          <p:nvPr/>
        </p:nvSpPr>
        <p:spPr>
          <a:xfrm>
            <a:off x="6231636" y="2606040"/>
            <a:ext cx="2521458" cy="731520"/>
          </a:xfrm>
          <a:prstGeom prst="roundRect">
            <a:avLst>
              <a:gd name="adj" fmla="val 12500"/>
            </a:avLst>
          </a:prstGeom>
          <a:solidFill>
            <a:srgbClr val="F9FAFB"/>
          </a:solidFill>
          <a:ln w="12700">
            <a:solidFill>
              <a:srgbClr val="E5E7EB"/>
            </a:solidFill>
            <a:prstDash val="solid"/>
          </a:ln>
        </p:spPr>
      </p:sp>
      <p:sp>
        <p:nvSpPr>
          <p:cNvPr id="11" name="Text 9"/>
          <p:cNvSpPr/>
          <p:nvPr/>
        </p:nvSpPr>
        <p:spPr>
          <a:xfrm>
            <a:off x="6231636" y="2606040"/>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Siemens</a:t>
            </a:r>
            <a:endParaRPr lang="en-US" sz="1600" dirty="0"/>
          </a:p>
        </p:txBody>
      </p:sp>
      <p:sp>
        <p:nvSpPr>
          <p:cNvPr id="12" name="Shape 10"/>
          <p:cNvSpPr/>
          <p:nvPr/>
        </p:nvSpPr>
        <p:spPr>
          <a:xfrm>
            <a:off x="9027414" y="2606040"/>
            <a:ext cx="2521458" cy="731520"/>
          </a:xfrm>
          <a:prstGeom prst="roundRect">
            <a:avLst>
              <a:gd name="adj" fmla="val 12500"/>
            </a:avLst>
          </a:prstGeom>
          <a:solidFill>
            <a:srgbClr val="F9FAFB"/>
          </a:solidFill>
          <a:ln w="12700">
            <a:solidFill>
              <a:srgbClr val="E5E7EB"/>
            </a:solidFill>
            <a:prstDash val="solid"/>
          </a:ln>
        </p:spPr>
      </p:sp>
      <p:sp>
        <p:nvSpPr>
          <p:cNvPr id="13" name="Text 11"/>
          <p:cNvSpPr/>
          <p:nvPr/>
        </p:nvSpPr>
        <p:spPr>
          <a:xfrm>
            <a:off x="9027414" y="2606040"/>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Bayer</a:t>
            </a:r>
            <a:endParaRPr lang="en-US" sz="1600" dirty="0"/>
          </a:p>
        </p:txBody>
      </p:sp>
      <p:sp>
        <p:nvSpPr>
          <p:cNvPr id="14" name="Shape 12"/>
          <p:cNvSpPr/>
          <p:nvPr/>
        </p:nvSpPr>
        <p:spPr>
          <a:xfrm>
            <a:off x="640080" y="3575304"/>
            <a:ext cx="2521458" cy="731520"/>
          </a:xfrm>
          <a:prstGeom prst="roundRect">
            <a:avLst>
              <a:gd name="adj" fmla="val 12500"/>
            </a:avLst>
          </a:prstGeom>
          <a:solidFill>
            <a:srgbClr val="F9FAFB"/>
          </a:solidFill>
          <a:ln w="12700">
            <a:solidFill>
              <a:srgbClr val="E5E7EB"/>
            </a:solidFill>
            <a:prstDash val="solid"/>
          </a:ln>
        </p:spPr>
      </p:sp>
      <p:sp>
        <p:nvSpPr>
          <p:cNvPr id="15" name="Text 13"/>
          <p:cNvSpPr/>
          <p:nvPr/>
        </p:nvSpPr>
        <p:spPr>
          <a:xfrm>
            <a:off x="640080" y="3575304"/>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Deutsche Bank</a:t>
            </a:r>
            <a:endParaRPr lang="en-US" sz="1600" dirty="0"/>
          </a:p>
        </p:txBody>
      </p:sp>
      <p:sp>
        <p:nvSpPr>
          <p:cNvPr id="16" name="Shape 14"/>
          <p:cNvSpPr/>
          <p:nvPr/>
        </p:nvSpPr>
        <p:spPr>
          <a:xfrm>
            <a:off x="3435858" y="3575304"/>
            <a:ext cx="2521458" cy="731520"/>
          </a:xfrm>
          <a:prstGeom prst="roundRect">
            <a:avLst>
              <a:gd name="adj" fmla="val 12500"/>
            </a:avLst>
          </a:prstGeom>
          <a:solidFill>
            <a:srgbClr val="F9FAFB"/>
          </a:solidFill>
          <a:ln w="12700">
            <a:solidFill>
              <a:srgbClr val="E5E7EB"/>
            </a:solidFill>
            <a:prstDash val="solid"/>
          </a:ln>
        </p:spPr>
      </p:sp>
      <p:sp>
        <p:nvSpPr>
          <p:cNvPr id="17" name="Text 15"/>
          <p:cNvSpPr/>
          <p:nvPr/>
        </p:nvSpPr>
        <p:spPr>
          <a:xfrm>
            <a:off x="3435858" y="3575304"/>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UNICEF</a:t>
            </a:r>
            <a:endParaRPr lang="en-US" sz="1600" dirty="0"/>
          </a:p>
        </p:txBody>
      </p:sp>
      <p:sp>
        <p:nvSpPr>
          <p:cNvPr id="18" name="Shape 16"/>
          <p:cNvSpPr/>
          <p:nvPr/>
        </p:nvSpPr>
        <p:spPr>
          <a:xfrm>
            <a:off x="6231636" y="3575304"/>
            <a:ext cx="2521458" cy="731520"/>
          </a:xfrm>
          <a:prstGeom prst="roundRect">
            <a:avLst>
              <a:gd name="adj" fmla="val 12500"/>
            </a:avLst>
          </a:prstGeom>
          <a:solidFill>
            <a:srgbClr val="F9FAFB"/>
          </a:solidFill>
          <a:ln w="12700">
            <a:solidFill>
              <a:srgbClr val="E5E7EB"/>
            </a:solidFill>
            <a:prstDash val="solid"/>
          </a:ln>
        </p:spPr>
      </p:sp>
      <p:sp>
        <p:nvSpPr>
          <p:cNvPr id="19" name="Text 17"/>
          <p:cNvSpPr/>
          <p:nvPr/>
        </p:nvSpPr>
        <p:spPr>
          <a:xfrm>
            <a:off x="6231636" y="3575304"/>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McKinsey</a:t>
            </a:r>
            <a:endParaRPr lang="en-US" sz="1600" dirty="0"/>
          </a:p>
        </p:txBody>
      </p:sp>
      <p:sp>
        <p:nvSpPr>
          <p:cNvPr id="20" name="Shape 18"/>
          <p:cNvSpPr/>
          <p:nvPr/>
        </p:nvSpPr>
        <p:spPr>
          <a:xfrm>
            <a:off x="9027414" y="3575304"/>
            <a:ext cx="2521458" cy="731520"/>
          </a:xfrm>
          <a:prstGeom prst="roundRect">
            <a:avLst>
              <a:gd name="adj" fmla="val 12500"/>
            </a:avLst>
          </a:prstGeom>
          <a:solidFill>
            <a:srgbClr val="F9FAFB"/>
          </a:solidFill>
          <a:ln w="12700">
            <a:solidFill>
              <a:srgbClr val="E5E7EB"/>
            </a:solidFill>
            <a:prstDash val="solid"/>
          </a:ln>
        </p:spPr>
      </p:sp>
      <p:sp>
        <p:nvSpPr>
          <p:cNvPr id="21" name="Text 19"/>
          <p:cNvSpPr/>
          <p:nvPr/>
        </p:nvSpPr>
        <p:spPr>
          <a:xfrm>
            <a:off x="9027414" y="3575304"/>
            <a:ext cx="2521458" cy="731520"/>
          </a:xfrm>
          <a:prstGeom prst="rect">
            <a:avLst/>
          </a:prstGeom>
          <a:noFill/>
          <a:ln/>
        </p:spPr>
        <p:txBody>
          <a:bodyPr wrap="square" lIns="0" tIns="0" rIns="0" bIns="0" rtlCol="0" anchor="ctr"/>
          <a:lstStyle/>
          <a:p>
            <a:pPr algn="ctr" indent="0" marL="0">
              <a:buNone/>
            </a:pPr>
            <a:r>
              <a:rPr lang="en-US" sz="1600" b="1" dirty="0">
                <a:solidFill>
                  <a:srgbClr val="111827"/>
                </a:solidFill>
              </a:rPr>
              <a:t>Bosch</a:t>
            </a:r>
            <a:endParaRPr lang="en-US" sz="1600" dirty="0"/>
          </a:p>
        </p:txBody>
      </p:sp>
      <p:sp>
        <p:nvSpPr>
          <p:cNvPr id="22" name="Shape 20"/>
          <p:cNvSpPr/>
          <p:nvPr/>
        </p:nvSpPr>
        <p:spPr>
          <a:xfrm>
            <a:off x="640080" y="4709160"/>
            <a:ext cx="3392424" cy="1371600"/>
          </a:xfrm>
          <a:prstGeom prst="roundRect">
            <a:avLst>
              <a:gd name="adj" fmla="val 6667"/>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pic>
        <p:nvPicPr>
          <p:cNvPr id="23" name="Image 0" descr="assets/i_globe.png">    </p:cNvPr>
          <p:cNvPicPr>
            <a:picLocks noChangeAspect="1"/>
          </p:cNvPicPr>
          <p:nvPr/>
        </p:nvPicPr>
        <p:blipFill>
          <a:blip r:embed="rId1"/>
          <a:stretch>
            <a:fillRect/>
          </a:stretch>
        </p:blipFill>
        <p:spPr>
          <a:xfrm>
            <a:off x="932688" y="5001768"/>
            <a:ext cx="384048" cy="384048"/>
          </a:xfrm>
          <a:prstGeom prst="rect">
            <a:avLst/>
          </a:prstGeom>
        </p:spPr>
      </p:pic>
      <p:sp>
        <p:nvSpPr>
          <p:cNvPr id="24" name="Text 21"/>
          <p:cNvSpPr/>
          <p:nvPr/>
        </p:nvSpPr>
        <p:spPr>
          <a:xfrm>
            <a:off x="1463040" y="4983480"/>
            <a:ext cx="2386584" cy="411480"/>
          </a:xfrm>
          <a:prstGeom prst="rect">
            <a:avLst/>
          </a:prstGeom>
          <a:noFill/>
          <a:ln/>
        </p:spPr>
        <p:txBody>
          <a:bodyPr wrap="square" lIns="0" tIns="0" rIns="0" bIns="0" rtlCol="0" anchor="ctr"/>
          <a:lstStyle/>
          <a:p>
            <a:pPr indent="0" marL="0">
              <a:buNone/>
            </a:pPr>
            <a:r>
              <a:rPr lang="en-US" sz="1500" b="1" dirty="0">
                <a:solidFill>
                  <a:srgbClr val="111827"/>
                </a:solidFill>
              </a:rPr>
              <a:t>Brand reach</a:t>
            </a:r>
            <a:endParaRPr lang="en-US" sz="1500" dirty="0"/>
          </a:p>
        </p:txBody>
      </p:sp>
      <p:sp>
        <p:nvSpPr>
          <p:cNvPr id="25" name="Text 22"/>
          <p:cNvSpPr/>
          <p:nvPr/>
        </p:nvSpPr>
        <p:spPr>
          <a:xfrm>
            <a:off x="932688" y="5513832"/>
            <a:ext cx="2843784" cy="548640"/>
          </a:xfrm>
          <a:prstGeom prst="rect">
            <a:avLst/>
          </a:prstGeom>
          <a:noFill/>
          <a:ln/>
        </p:spPr>
        <p:txBody>
          <a:bodyPr wrap="square" lIns="0" tIns="0" rIns="0" bIns="0" rtlCol="0" anchor="ctr"/>
          <a:lstStyle/>
          <a:p>
            <a:pPr indent="0" marL="0">
              <a:lnSpc>
                <a:spcPts val="1500"/>
              </a:lnSpc>
              <a:buNone/>
            </a:pPr>
            <a:r>
              <a:rPr lang="en-US" sz="1150" dirty="0">
                <a:solidFill>
                  <a:srgbClr val="6B7280"/>
                </a:solidFill>
              </a:rPr>
              <a:t>Visibility with the next billion learners in emerging markets.</a:t>
            </a:r>
            <a:endParaRPr lang="en-US" sz="1150" dirty="0"/>
          </a:p>
        </p:txBody>
      </p:sp>
      <p:sp>
        <p:nvSpPr>
          <p:cNvPr id="26" name="Shape 23"/>
          <p:cNvSpPr/>
          <p:nvPr/>
        </p:nvSpPr>
        <p:spPr>
          <a:xfrm>
            <a:off x="4398264" y="4709160"/>
            <a:ext cx="3392424" cy="1371600"/>
          </a:xfrm>
          <a:prstGeom prst="roundRect">
            <a:avLst>
              <a:gd name="adj" fmla="val 6667"/>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pic>
        <p:nvPicPr>
          <p:cNvPr id="27" name="Image 1" descr="assets/i_handshake.png">    </p:cNvPr>
          <p:cNvPicPr>
            <a:picLocks noChangeAspect="1"/>
          </p:cNvPicPr>
          <p:nvPr/>
        </p:nvPicPr>
        <p:blipFill>
          <a:blip r:embed="rId2"/>
          <a:stretch>
            <a:fillRect/>
          </a:stretch>
        </p:blipFill>
        <p:spPr>
          <a:xfrm>
            <a:off x="4690872" y="5001768"/>
            <a:ext cx="384048" cy="384048"/>
          </a:xfrm>
          <a:prstGeom prst="rect">
            <a:avLst/>
          </a:prstGeom>
        </p:spPr>
      </p:pic>
      <p:sp>
        <p:nvSpPr>
          <p:cNvPr id="28" name="Text 24"/>
          <p:cNvSpPr/>
          <p:nvPr/>
        </p:nvSpPr>
        <p:spPr>
          <a:xfrm>
            <a:off x="5221224" y="4983480"/>
            <a:ext cx="2386584" cy="411480"/>
          </a:xfrm>
          <a:prstGeom prst="rect">
            <a:avLst/>
          </a:prstGeom>
          <a:noFill/>
          <a:ln/>
        </p:spPr>
        <p:txBody>
          <a:bodyPr wrap="square" lIns="0" tIns="0" rIns="0" bIns="0" rtlCol="0" anchor="ctr"/>
          <a:lstStyle/>
          <a:p>
            <a:pPr indent="0" marL="0">
              <a:buNone/>
            </a:pPr>
            <a:r>
              <a:rPr lang="en-US" sz="1500" b="1" dirty="0">
                <a:solidFill>
                  <a:srgbClr val="111827"/>
                </a:solidFill>
              </a:rPr>
              <a:t>CSR mandates</a:t>
            </a:r>
            <a:endParaRPr lang="en-US" sz="1500" dirty="0"/>
          </a:p>
        </p:txBody>
      </p:sp>
      <p:sp>
        <p:nvSpPr>
          <p:cNvPr id="29" name="Text 25"/>
          <p:cNvSpPr/>
          <p:nvPr/>
        </p:nvSpPr>
        <p:spPr>
          <a:xfrm>
            <a:off x="4690872" y="5513832"/>
            <a:ext cx="2843784" cy="548640"/>
          </a:xfrm>
          <a:prstGeom prst="rect">
            <a:avLst/>
          </a:prstGeom>
          <a:noFill/>
          <a:ln/>
        </p:spPr>
        <p:txBody>
          <a:bodyPr wrap="square" lIns="0" tIns="0" rIns="0" bIns="0" rtlCol="0" anchor="ctr"/>
          <a:lstStyle/>
          <a:p>
            <a:pPr indent="0" marL="0">
              <a:lnSpc>
                <a:spcPts val="1500"/>
              </a:lnSpc>
              <a:buNone/>
            </a:pPr>
            <a:r>
              <a:rPr lang="en-US" sz="1150" dirty="0">
                <a:solidFill>
                  <a:srgbClr val="6B7280"/>
                </a:solidFill>
              </a:rPr>
              <a:t>A measurable, credible way to fund education at scale.</a:t>
            </a:r>
            <a:endParaRPr lang="en-US" sz="1150" dirty="0"/>
          </a:p>
        </p:txBody>
      </p:sp>
      <p:sp>
        <p:nvSpPr>
          <p:cNvPr id="30" name="Shape 26"/>
          <p:cNvSpPr/>
          <p:nvPr/>
        </p:nvSpPr>
        <p:spPr>
          <a:xfrm>
            <a:off x="8156448" y="4709160"/>
            <a:ext cx="3392424" cy="1371600"/>
          </a:xfrm>
          <a:prstGeom prst="roundRect">
            <a:avLst>
              <a:gd name="adj" fmla="val 6667"/>
            </a:avLst>
          </a:prstGeom>
          <a:solidFill>
            <a:srgbClr val="FFFFFF"/>
          </a:solidFill>
          <a:ln w="12700">
            <a:solidFill>
              <a:srgbClr val="E5E7EB"/>
            </a:solidFill>
            <a:prstDash val="solid"/>
          </a:ln>
          <a:effectLst>
            <a:outerShdw sx="100000" sy="100000" kx="0" ky="0" algn="bl" rotWithShape="0" blurRad="177800" dist="50800" dir="5400000">
              <a:srgbClr val="111827">
                <a:alpha val="10000"/>
              </a:srgbClr>
            </a:outerShdw>
          </a:effectLst>
        </p:spPr>
      </p:sp>
      <p:pic>
        <p:nvPicPr>
          <p:cNvPr id="31" name="Image 2" descr="assets/i_chart.png">    </p:cNvPr>
          <p:cNvPicPr>
            <a:picLocks noChangeAspect="1"/>
          </p:cNvPicPr>
          <p:nvPr/>
        </p:nvPicPr>
        <p:blipFill>
          <a:blip r:embed="rId3"/>
          <a:stretch>
            <a:fillRect/>
          </a:stretch>
        </p:blipFill>
        <p:spPr>
          <a:xfrm>
            <a:off x="8449056" y="5001768"/>
            <a:ext cx="384048" cy="384048"/>
          </a:xfrm>
          <a:prstGeom prst="rect">
            <a:avLst/>
          </a:prstGeom>
        </p:spPr>
      </p:pic>
      <p:sp>
        <p:nvSpPr>
          <p:cNvPr id="32" name="Text 27"/>
          <p:cNvSpPr/>
          <p:nvPr/>
        </p:nvSpPr>
        <p:spPr>
          <a:xfrm>
            <a:off x="8979408" y="4983480"/>
            <a:ext cx="2386584" cy="411480"/>
          </a:xfrm>
          <a:prstGeom prst="rect">
            <a:avLst/>
          </a:prstGeom>
          <a:noFill/>
          <a:ln/>
        </p:spPr>
        <p:txBody>
          <a:bodyPr wrap="square" lIns="0" tIns="0" rIns="0" bIns="0" rtlCol="0" anchor="ctr"/>
          <a:lstStyle/>
          <a:p>
            <a:pPr indent="0" marL="0">
              <a:buNone/>
            </a:pPr>
            <a:r>
              <a:rPr lang="en-US" sz="1500" b="1" dirty="0">
                <a:solidFill>
                  <a:srgbClr val="111827"/>
                </a:solidFill>
              </a:rPr>
              <a:t>Impact metrics</a:t>
            </a:r>
            <a:endParaRPr lang="en-US" sz="1500" dirty="0"/>
          </a:p>
        </p:txBody>
      </p:sp>
      <p:sp>
        <p:nvSpPr>
          <p:cNvPr id="33" name="Text 28"/>
          <p:cNvSpPr/>
          <p:nvPr/>
        </p:nvSpPr>
        <p:spPr>
          <a:xfrm>
            <a:off x="8449056" y="5513832"/>
            <a:ext cx="2843784" cy="548640"/>
          </a:xfrm>
          <a:prstGeom prst="rect">
            <a:avLst/>
          </a:prstGeom>
          <a:noFill/>
          <a:ln/>
        </p:spPr>
        <p:txBody>
          <a:bodyPr wrap="square" lIns="0" tIns="0" rIns="0" bIns="0" rtlCol="0" anchor="ctr"/>
          <a:lstStyle/>
          <a:p>
            <a:pPr indent="0" marL="0">
              <a:lnSpc>
                <a:spcPts val="1500"/>
              </a:lnSpc>
              <a:buNone/>
            </a:pPr>
            <a:r>
              <a:rPr lang="en-US" sz="1150" dirty="0">
                <a:solidFill>
                  <a:srgbClr val="6B7280"/>
                </a:solidFill>
              </a:rPr>
              <a:t>Reach and engagement reported back by subject category.</a:t>
            </a:r>
            <a:endParaRPr lang="en-US" sz="1150" dirty="0"/>
          </a:p>
        </p:txBody>
      </p:sp>
      <p:sp>
        <p:nvSpPr>
          <p:cNvPr id="34" name="Text 29"/>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35" name="Text 30"/>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BUILT FOR EVERYONE</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Download once. Learn offline. Even the AI tutor.</a:t>
            </a:r>
            <a:endParaRPr lang="en-US" sz="3200" dirty="0"/>
          </a:p>
        </p:txBody>
      </p:sp>
      <p:sp>
        <p:nvSpPr>
          <p:cNvPr id="5" name="Shape 3"/>
          <p:cNvSpPr/>
          <p:nvPr/>
        </p:nvSpPr>
        <p:spPr>
          <a:xfrm>
            <a:off x="1188720" y="1920240"/>
            <a:ext cx="2468880" cy="4023360"/>
          </a:xfrm>
          <a:prstGeom prst="roundRect">
            <a:avLst>
              <a:gd name="adj" fmla="val 11111"/>
            </a:avLst>
          </a:prstGeom>
          <a:solidFill>
            <a:srgbClr val="0E1626"/>
          </a:solidFill>
          <a:ln/>
          <a:effectLst>
            <a:outerShdw sx="100000" sy="100000" kx="0" ky="0" algn="bl" rotWithShape="0" blurRad="177800" dist="50800" dir="5400000">
              <a:srgbClr val="111827">
                <a:alpha val="10000"/>
              </a:srgbClr>
            </a:outerShdw>
          </a:effectLst>
        </p:spPr>
      </p:sp>
      <p:sp>
        <p:nvSpPr>
          <p:cNvPr id="6" name="Shape 4"/>
          <p:cNvSpPr/>
          <p:nvPr/>
        </p:nvSpPr>
        <p:spPr>
          <a:xfrm>
            <a:off x="1353312" y="2212848"/>
            <a:ext cx="2139696" cy="3438144"/>
          </a:xfrm>
          <a:prstGeom prst="roundRect">
            <a:avLst>
              <a:gd name="adj" fmla="val 7692"/>
            </a:avLst>
          </a:prstGeom>
          <a:solidFill>
            <a:srgbClr val="FFFFFF"/>
          </a:solidFill>
          <a:ln/>
        </p:spPr>
      </p:sp>
      <p:sp>
        <p:nvSpPr>
          <p:cNvPr id="7" name="Text 5"/>
          <p:cNvSpPr/>
          <p:nvPr/>
        </p:nvSpPr>
        <p:spPr>
          <a:xfrm>
            <a:off x="1508760" y="2423160"/>
            <a:ext cx="1828800" cy="320040"/>
          </a:xfrm>
          <a:prstGeom prst="rect">
            <a:avLst/>
          </a:prstGeom>
          <a:noFill/>
          <a:ln/>
        </p:spPr>
        <p:txBody>
          <a:bodyPr wrap="square" lIns="0" tIns="0" rIns="0" bIns="0" rtlCol="0" anchor="ctr"/>
          <a:lstStyle/>
          <a:p>
            <a:pPr indent="0" marL="0">
              <a:buNone/>
            </a:pPr>
            <a:r>
              <a:rPr lang="en-US" sz="1200" b="1" dirty="0">
                <a:solidFill>
                  <a:srgbClr val="111827"/>
                </a:solidFill>
              </a:rPr>
              <a:t>Downloaded</a:t>
            </a:r>
            <a:endParaRPr lang="en-US" sz="1200" dirty="0"/>
          </a:p>
        </p:txBody>
      </p:sp>
      <p:sp>
        <p:nvSpPr>
          <p:cNvPr id="8" name="Shape 6"/>
          <p:cNvSpPr/>
          <p:nvPr/>
        </p:nvSpPr>
        <p:spPr>
          <a:xfrm>
            <a:off x="1463040" y="2880360"/>
            <a:ext cx="1920240" cy="640080"/>
          </a:xfrm>
          <a:prstGeom prst="roundRect">
            <a:avLst>
              <a:gd name="adj" fmla="val 11429"/>
            </a:avLst>
          </a:prstGeom>
          <a:solidFill>
            <a:srgbClr val="F9FAFB"/>
          </a:solidFill>
          <a:ln w="12700">
            <a:solidFill>
              <a:srgbClr val="E5E7EB"/>
            </a:solidFill>
            <a:prstDash val="solid"/>
          </a:ln>
        </p:spPr>
      </p:sp>
      <p:pic>
        <p:nvPicPr>
          <p:cNvPr id="9" name="Image 0" descr="assets/i_check.png">    </p:cNvPr>
          <p:cNvPicPr>
            <a:picLocks noChangeAspect="1"/>
          </p:cNvPicPr>
          <p:nvPr/>
        </p:nvPicPr>
        <p:blipFill>
          <a:blip r:embed="rId1"/>
          <a:stretch>
            <a:fillRect/>
          </a:stretch>
        </p:blipFill>
        <p:spPr>
          <a:xfrm>
            <a:off x="1572768" y="3081528"/>
            <a:ext cx="237744" cy="237744"/>
          </a:xfrm>
          <a:prstGeom prst="rect">
            <a:avLst/>
          </a:prstGeom>
        </p:spPr>
      </p:pic>
      <p:sp>
        <p:nvSpPr>
          <p:cNvPr id="10" name="Text 7"/>
          <p:cNvSpPr/>
          <p:nvPr/>
        </p:nvSpPr>
        <p:spPr>
          <a:xfrm>
            <a:off x="1901952" y="2880360"/>
            <a:ext cx="1554480" cy="640080"/>
          </a:xfrm>
          <a:prstGeom prst="rect">
            <a:avLst/>
          </a:prstGeom>
          <a:noFill/>
          <a:ln/>
        </p:spPr>
        <p:txBody>
          <a:bodyPr wrap="square" lIns="0" tIns="0" rIns="0" bIns="0" rtlCol="0" anchor="ctr"/>
          <a:lstStyle/>
          <a:p>
            <a:pPr indent="0" marL="0">
              <a:buNone/>
            </a:pPr>
            <a:r>
              <a:rPr lang="en-US" sz="1050" b="1" dirty="0">
                <a:solidFill>
                  <a:srgbClr val="111827"/>
                </a:solidFill>
              </a:rPr>
              <a:t>CS Fundamentals</a:t>
            </a:r>
            <a:endParaRPr lang="en-US" sz="1050" dirty="0"/>
          </a:p>
        </p:txBody>
      </p:sp>
      <p:sp>
        <p:nvSpPr>
          <p:cNvPr id="11" name="Shape 8"/>
          <p:cNvSpPr/>
          <p:nvPr/>
        </p:nvSpPr>
        <p:spPr>
          <a:xfrm>
            <a:off x="1463040" y="3657600"/>
            <a:ext cx="1920240" cy="640080"/>
          </a:xfrm>
          <a:prstGeom prst="roundRect">
            <a:avLst>
              <a:gd name="adj" fmla="val 11429"/>
            </a:avLst>
          </a:prstGeom>
          <a:solidFill>
            <a:srgbClr val="F9FAFB"/>
          </a:solidFill>
          <a:ln w="12700">
            <a:solidFill>
              <a:srgbClr val="E5E7EB"/>
            </a:solidFill>
            <a:prstDash val="solid"/>
          </a:ln>
        </p:spPr>
      </p:sp>
      <p:pic>
        <p:nvPicPr>
          <p:cNvPr id="12" name="Image 1" descr="assets/i_check.png">    </p:cNvPr>
          <p:cNvPicPr>
            <a:picLocks noChangeAspect="1"/>
          </p:cNvPicPr>
          <p:nvPr/>
        </p:nvPicPr>
        <p:blipFill>
          <a:blip r:embed="rId2"/>
          <a:stretch>
            <a:fillRect/>
          </a:stretch>
        </p:blipFill>
        <p:spPr>
          <a:xfrm>
            <a:off x="1572768" y="3858768"/>
            <a:ext cx="237744" cy="237744"/>
          </a:xfrm>
          <a:prstGeom prst="rect">
            <a:avLst/>
          </a:prstGeom>
        </p:spPr>
      </p:pic>
      <p:sp>
        <p:nvSpPr>
          <p:cNvPr id="13" name="Text 9"/>
          <p:cNvSpPr/>
          <p:nvPr/>
        </p:nvSpPr>
        <p:spPr>
          <a:xfrm>
            <a:off x="1901952" y="3657600"/>
            <a:ext cx="1554480" cy="640080"/>
          </a:xfrm>
          <a:prstGeom prst="rect">
            <a:avLst/>
          </a:prstGeom>
          <a:noFill/>
          <a:ln/>
        </p:spPr>
        <p:txBody>
          <a:bodyPr wrap="square" lIns="0" tIns="0" rIns="0" bIns="0" rtlCol="0" anchor="ctr"/>
          <a:lstStyle/>
          <a:p>
            <a:pPr indent="0" marL="0">
              <a:buNone/>
            </a:pPr>
            <a:r>
              <a:rPr lang="en-US" sz="1050" b="1" dirty="0">
                <a:solidFill>
                  <a:srgbClr val="111827"/>
                </a:solidFill>
              </a:rPr>
              <a:t>Biology Basics</a:t>
            </a:r>
            <a:endParaRPr lang="en-US" sz="1050" dirty="0"/>
          </a:p>
        </p:txBody>
      </p:sp>
      <p:sp>
        <p:nvSpPr>
          <p:cNvPr id="14" name="Shape 10"/>
          <p:cNvSpPr/>
          <p:nvPr/>
        </p:nvSpPr>
        <p:spPr>
          <a:xfrm>
            <a:off x="1463040" y="4434840"/>
            <a:ext cx="1920240" cy="640080"/>
          </a:xfrm>
          <a:prstGeom prst="roundRect">
            <a:avLst>
              <a:gd name="adj" fmla="val 11429"/>
            </a:avLst>
          </a:prstGeom>
          <a:solidFill>
            <a:srgbClr val="F9FAFB"/>
          </a:solidFill>
          <a:ln w="12700">
            <a:solidFill>
              <a:srgbClr val="E5E7EB"/>
            </a:solidFill>
            <a:prstDash val="solid"/>
          </a:ln>
        </p:spPr>
      </p:sp>
      <p:pic>
        <p:nvPicPr>
          <p:cNvPr id="15" name="Image 2" descr="assets/i_check.png">    </p:cNvPr>
          <p:cNvPicPr>
            <a:picLocks noChangeAspect="1"/>
          </p:cNvPicPr>
          <p:nvPr/>
        </p:nvPicPr>
        <p:blipFill>
          <a:blip r:embed="rId3"/>
          <a:stretch>
            <a:fillRect/>
          </a:stretch>
        </p:blipFill>
        <p:spPr>
          <a:xfrm>
            <a:off x="1572768" y="4636008"/>
            <a:ext cx="237744" cy="237744"/>
          </a:xfrm>
          <a:prstGeom prst="rect">
            <a:avLst/>
          </a:prstGeom>
        </p:spPr>
      </p:pic>
      <p:sp>
        <p:nvSpPr>
          <p:cNvPr id="16" name="Text 11"/>
          <p:cNvSpPr/>
          <p:nvPr/>
        </p:nvSpPr>
        <p:spPr>
          <a:xfrm>
            <a:off x="1901952" y="4434840"/>
            <a:ext cx="1554480" cy="640080"/>
          </a:xfrm>
          <a:prstGeom prst="rect">
            <a:avLst/>
          </a:prstGeom>
          <a:noFill/>
          <a:ln/>
        </p:spPr>
        <p:txBody>
          <a:bodyPr wrap="square" lIns="0" tIns="0" rIns="0" bIns="0" rtlCol="0" anchor="ctr"/>
          <a:lstStyle/>
          <a:p>
            <a:pPr indent="0" marL="0">
              <a:buNone/>
            </a:pPr>
            <a:r>
              <a:rPr lang="en-US" sz="1050" b="1" dirty="0">
                <a:solidFill>
                  <a:srgbClr val="111827"/>
                </a:solidFill>
              </a:rPr>
              <a:t>Math for Everyone</a:t>
            </a:r>
            <a:endParaRPr lang="en-US" sz="1050" dirty="0"/>
          </a:p>
        </p:txBody>
      </p:sp>
      <p:sp>
        <p:nvSpPr>
          <p:cNvPr id="17" name="Shape 12"/>
          <p:cNvSpPr/>
          <p:nvPr/>
        </p:nvSpPr>
        <p:spPr>
          <a:xfrm>
            <a:off x="1463040" y="5257800"/>
            <a:ext cx="1920240" cy="502920"/>
          </a:xfrm>
          <a:prstGeom prst="roundRect">
            <a:avLst/>
          </a:prstGeom>
          <a:solidFill>
            <a:srgbClr val="10B981"/>
          </a:solidFill>
          <a:ln/>
        </p:spPr>
      </p:sp>
      <p:sp>
        <p:nvSpPr>
          <p:cNvPr id="18" name="Text 13"/>
          <p:cNvSpPr/>
          <p:nvPr/>
        </p:nvSpPr>
        <p:spPr>
          <a:xfrm>
            <a:off x="1463040" y="5257800"/>
            <a:ext cx="1920240" cy="502920"/>
          </a:xfrm>
          <a:prstGeom prst="rect">
            <a:avLst/>
          </a:prstGeom>
          <a:noFill/>
          <a:ln/>
        </p:spPr>
        <p:txBody>
          <a:bodyPr wrap="square" lIns="0" tIns="0" rIns="0" bIns="0" rtlCol="0" anchor="ctr"/>
          <a:lstStyle/>
          <a:p>
            <a:pPr algn="ctr" indent="0" marL="0">
              <a:buNone/>
            </a:pPr>
            <a:r>
              <a:rPr lang="en-US" sz="1050" b="1" dirty="0">
                <a:solidFill>
                  <a:srgbClr val="FFFFFF"/>
                </a:solidFill>
              </a:rPr>
              <a:t>Tutor available offline</a:t>
            </a:r>
            <a:endParaRPr lang="en-US" sz="1050" dirty="0"/>
          </a:p>
        </p:txBody>
      </p:sp>
      <p:pic>
        <p:nvPicPr>
          <p:cNvPr id="19" name="Image 3" descr="assets/i_download.png">    </p:cNvPr>
          <p:cNvPicPr>
            <a:picLocks noChangeAspect="1"/>
          </p:cNvPicPr>
          <p:nvPr/>
        </p:nvPicPr>
        <p:blipFill>
          <a:blip r:embed="rId4"/>
          <a:stretch>
            <a:fillRect/>
          </a:stretch>
        </p:blipFill>
        <p:spPr>
          <a:xfrm>
            <a:off x="4389120" y="2039112"/>
            <a:ext cx="384048" cy="384048"/>
          </a:xfrm>
          <a:prstGeom prst="rect">
            <a:avLst/>
          </a:prstGeom>
        </p:spPr>
      </p:pic>
      <p:sp>
        <p:nvSpPr>
          <p:cNvPr id="20" name="Text 14"/>
          <p:cNvSpPr/>
          <p:nvPr/>
        </p:nvSpPr>
        <p:spPr>
          <a:xfrm>
            <a:off x="4956048" y="2011680"/>
            <a:ext cx="6592824" cy="365760"/>
          </a:xfrm>
          <a:prstGeom prst="rect">
            <a:avLst/>
          </a:prstGeom>
          <a:noFill/>
          <a:ln/>
        </p:spPr>
        <p:txBody>
          <a:bodyPr wrap="square" lIns="0" tIns="0" rIns="0" bIns="0" rtlCol="0" anchor="ctr"/>
          <a:lstStyle/>
          <a:p>
            <a:pPr indent="0" marL="0">
              <a:buNone/>
            </a:pPr>
            <a:r>
              <a:rPr lang="en-US" sz="1600" b="1" dirty="0">
                <a:solidFill>
                  <a:srgbClr val="111827"/>
                </a:solidFill>
              </a:rPr>
              <a:t>Courses download in one tap</a:t>
            </a:r>
            <a:endParaRPr lang="en-US" sz="1600" dirty="0"/>
          </a:p>
        </p:txBody>
      </p:sp>
      <p:sp>
        <p:nvSpPr>
          <p:cNvPr id="21" name="Text 15"/>
          <p:cNvSpPr/>
          <p:nvPr/>
        </p:nvSpPr>
        <p:spPr>
          <a:xfrm>
            <a:off x="4956048" y="2423160"/>
            <a:ext cx="6592824" cy="64008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Save a course once on a connection — then learn with no data afterward.</a:t>
            </a:r>
            <a:endParaRPr lang="en-US" sz="1250" dirty="0"/>
          </a:p>
        </p:txBody>
      </p:sp>
      <p:pic>
        <p:nvPicPr>
          <p:cNvPr id="22" name="Image 4" descr="assets/i_wifi.png">    </p:cNvPr>
          <p:cNvPicPr>
            <a:picLocks noChangeAspect="1"/>
          </p:cNvPicPr>
          <p:nvPr/>
        </p:nvPicPr>
        <p:blipFill>
          <a:blip r:embed="rId5"/>
          <a:stretch>
            <a:fillRect/>
          </a:stretch>
        </p:blipFill>
        <p:spPr>
          <a:xfrm>
            <a:off x="4389120" y="3319272"/>
            <a:ext cx="384048" cy="384048"/>
          </a:xfrm>
          <a:prstGeom prst="rect">
            <a:avLst/>
          </a:prstGeom>
        </p:spPr>
      </p:pic>
      <p:sp>
        <p:nvSpPr>
          <p:cNvPr id="23" name="Text 16"/>
          <p:cNvSpPr/>
          <p:nvPr/>
        </p:nvSpPr>
        <p:spPr>
          <a:xfrm>
            <a:off x="4956048" y="3291840"/>
            <a:ext cx="6592824" cy="365760"/>
          </a:xfrm>
          <a:prstGeom prst="rect">
            <a:avLst/>
          </a:prstGeom>
          <a:noFill/>
          <a:ln/>
        </p:spPr>
        <p:txBody>
          <a:bodyPr wrap="square" lIns="0" tIns="0" rIns="0" bIns="0" rtlCol="0" anchor="ctr"/>
          <a:lstStyle/>
          <a:p>
            <a:pPr indent="0" marL="0">
              <a:buNone/>
            </a:pPr>
            <a:r>
              <a:rPr lang="en-US" sz="1600" b="1" dirty="0">
                <a:solidFill>
                  <a:srgbClr val="111827"/>
                </a:solidFill>
              </a:rPr>
              <a:t>The tutor runs on-device</a:t>
            </a:r>
            <a:endParaRPr lang="en-US" sz="1600" dirty="0"/>
          </a:p>
        </p:txBody>
      </p:sp>
      <p:sp>
        <p:nvSpPr>
          <p:cNvPr id="24" name="Text 17"/>
          <p:cNvSpPr/>
          <p:nvPr/>
        </p:nvSpPr>
        <p:spPr>
          <a:xfrm>
            <a:off x="4956048" y="3703320"/>
            <a:ext cx="6592824" cy="64008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The Socratic tutor keeps working offline, so guidance never depends on a signal.</a:t>
            </a:r>
            <a:endParaRPr lang="en-US" sz="1250" dirty="0"/>
          </a:p>
        </p:txBody>
      </p:sp>
      <p:pic>
        <p:nvPicPr>
          <p:cNvPr id="25" name="Image 5" descr="assets/i_globe.png">    </p:cNvPr>
          <p:cNvPicPr>
            <a:picLocks noChangeAspect="1"/>
          </p:cNvPicPr>
          <p:nvPr/>
        </p:nvPicPr>
        <p:blipFill>
          <a:blip r:embed="rId6"/>
          <a:stretch>
            <a:fillRect/>
          </a:stretch>
        </p:blipFill>
        <p:spPr>
          <a:xfrm>
            <a:off x="4389120" y="4599432"/>
            <a:ext cx="384048" cy="384048"/>
          </a:xfrm>
          <a:prstGeom prst="rect">
            <a:avLst/>
          </a:prstGeom>
        </p:spPr>
      </p:pic>
      <p:sp>
        <p:nvSpPr>
          <p:cNvPr id="26" name="Text 18"/>
          <p:cNvSpPr/>
          <p:nvPr/>
        </p:nvSpPr>
        <p:spPr>
          <a:xfrm>
            <a:off x="4956048" y="4572000"/>
            <a:ext cx="6592824" cy="365760"/>
          </a:xfrm>
          <a:prstGeom prst="rect">
            <a:avLst/>
          </a:prstGeom>
          <a:noFill/>
          <a:ln/>
        </p:spPr>
        <p:txBody>
          <a:bodyPr wrap="square" lIns="0" tIns="0" rIns="0" bIns="0" rtlCol="0" anchor="ctr"/>
          <a:lstStyle/>
          <a:p>
            <a:pPr indent="0" marL="0">
              <a:buNone/>
            </a:pPr>
            <a:r>
              <a:rPr lang="en-US" sz="1600" b="1" dirty="0">
                <a:solidFill>
                  <a:srgbClr val="111827"/>
                </a:solidFill>
              </a:rPr>
              <a:t>Designed for the last mile</a:t>
            </a:r>
            <a:endParaRPr lang="en-US" sz="1600" dirty="0"/>
          </a:p>
        </p:txBody>
      </p:sp>
      <p:sp>
        <p:nvSpPr>
          <p:cNvPr id="27" name="Text 19"/>
          <p:cNvSpPr/>
          <p:nvPr/>
        </p:nvSpPr>
        <p:spPr>
          <a:xfrm>
            <a:off x="4956048" y="4983480"/>
            <a:ext cx="6592824" cy="640080"/>
          </a:xfrm>
          <a:prstGeom prst="rect">
            <a:avLst/>
          </a:prstGeom>
          <a:noFill/>
          <a:ln/>
        </p:spPr>
        <p:txBody>
          <a:bodyPr wrap="square" lIns="0" tIns="0" rIns="0" bIns="0" rtlCol="0" anchor="ctr"/>
          <a:lstStyle/>
          <a:p>
            <a:pPr indent="0" marL="0">
              <a:lnSpc>
                <a:spcPts val="1800"/>
              </a:lnSpc>
              <a:buNone/>
            </a:pPr>
            <a:r>
              <a:rPr lang="en-US" sz="1250" dirty="0">
                <a:solidFill>
                  <a:srgbClr val="6B7280"/>
                </a:solidFill>
              </a:rPr>
              <a:t>Built for rural and low-connectivity learners who are usually left out.</a:t>
            </a:r>
            <a:endParaRPr lang="en-US" sz="1250" dirty="0"/>
          </a:p>
        </p:txBody>
      </p:sp>
      <p:sp>
        <p:nvSpPr>
          <p:cNvPr id="28" name="Text 20"/>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29" name="Text 21"/>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BY THE NUMBERS</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Built to reach the unreached</a:t>
            </a:r>
            <a:endParaRPr lang="en-US" sz="3200" dirty="0"/>
          </a:p>
        </p:txBody>
      </p:sp>
      <p:sp>
        <p:nvSpPr>
          <p:cNvPr id="5" name="Shape 3"/>
          <p:cNvSpPr/>
          <p:nvPr/>
        </p:nvSpPr>
        <p:spPr>
          <a:xfrm>
            <a:off x="640080" y="2743200"/>
            <a:ext cx="1925726" cy="2377440"/>
          </a:xfrm>
          <a:prstGeom prst="roundRect">
            <a:avLst>
              <a:gd name="adj" fmla="val 5698"/>
            </a:avLst>
          </a:prstGeom>
          <a:solidFill>
            <a:srgbClr val="F9FAFB"/>
          </a:solidFill>
          <a:ln w="12700">
            <a:solidFill>
              <a:srgbClr val="E5E7EB"/>
            </a:solidFill>
            <a:prstDash val="solid"/>
          </a:ln>
        </p:spPr>
      </p:sp>
      <p:sp>
        <p:nvSpPr>
          <p:cNvPr id="6" name="Shape 4"/>
          <p:cNvSpPr/>
          <p:nvPr/>
        </p:nvSpPr>
        <p:spPr>
          <a:xfrm>
            <a:off x="640080" y="2743200"/>
            <a:ext cx="1925726" cy="91440"/>
          </a:xfrm>
          <a:prstGeom prst="rect">
            <a:avLst/>
          </a:prstGeom>
          <a:solidFill>
            <a:srgbClr val="2563EB"/>
          </a:solidFill>
          <a:ln/>
        </p:spPr>
      </p:sp>
      <p:sp>
        <p:nvSpPr>
          <p:cNvPr id="7" name="Text 5"/>
          <p:cNvSpPr/>
          <p:nvPr/>
        </p:nvSpPr>
        <p:spPr>
          <a:xfrm>
            <a:off x="731520" y="3383280"/>
            <a:ext cx="1742846" cy="822960"/>
          </a:xfrm>
          <a:prstGeom prst="rect">
            <a:avLst/>
          </a:prstGeom>
          <a:noFill/>
          <a:ln/>
        </p:spPr>
        <p:txBody>
          <a:bodyPr wrap="square" lIns="0" tIns="0" rIns="0" bIns="0" rtlCol="0" anchor="ctr"/>
          <a:lstStyle/>
          <a:p>
            <a:pPr algn="ctr" indent="0" marL="0">
              <a:buNone/>
            </a:pPr>
            <a:r>
              <a:rPr lang="en-US" sz="3800" b="1" dirty="0">
                <a:solidFill>
                  <a:srgbClr val="2563EB"/>
                </a:solidFill>
              </a:rPr>
              <a:t>1,200+</a:t>
            </a:r>
            <a:endParaRPr lang="en-US" sz="3800" dirty="0"/>
          </a:p>
        </p:txBody>
      </p:sp>
      <p:sp>
        <p:nvSpPr>
          <p:cNvPr id="8" name="Text 6"/>
          <p:cNvSpPr/>
          <p:nvPr/>
        </p:nvSpPr>
        <p:spPr>
          <a:xfrm>
            <a:off x="777240" y="4251960"/>
            <a:ext cx="1651406" cy="640080"/>
          </a:xfrm>
          <a:prstGeom prst="rect">
            <a:avLst/>
          </a:prstGeom>
          <a:noFill/>
          <a:ln/>
        </p:spPr>
        <p:txBody>
          <a:bodyPr wrap="square" lIns="0" tIns="0" rIns="0" bIns="0" rtlCol="0" anchor="ctr"/>
          <a:lstStyle/>
          <a:p>
            <a:pPr algn="ctr" indent="0" marL="0">
              <a:lnSpc>
                <a:spcPts val="1500"/>
              </a:lnSpc>
              <a:buNone/>
            </a:pPr>
            <a:r>
              <a:rPr lang="en-US" sz="1200" dirty="0">
                <a:solidFill>
                  <a:srgbClr val="6B7280"/>
                </a:solidFill>
              </a:rPr>
              <a:t>students learning</a:t>
            </a:r>
            <a:endParaRPr lang="en-US" sz="1200" dirty="0"/>
          </a:p>
        </p:txBody>
      </p:sp>
      <p:sp>
        <p:nvSpPr>
          <p:cNvPr id="9" name="Shape 7"/>
          <p:cNvSpPr/>
          <p:nvPr/>
        </p:nvSpPr>
        <p:spPr>
          <a:xfrm>
            <a:off x="2885846" y="2743200"/>
            <a:ext cx="1925726" cy="2377440"/>
          </a:xfrm>
          <a:prstGeom prst="roundRect">
            <a:avLst>
              <a:gd name="adj" fmla="val 5698"/>
            </a:avLst>
          </a:prstGeom>
          <a:solidFill>
            <a:srgbClr val="F9FAFB"/>
          </a:solidFill>
          <a:ln w="12700">
            <a:solidFill>
              <a:srgbClr val="E5E7EB"/>
            </a:solidFill>
            <a:prstDash val="solid"/>
          </a:ln>
        </p:spPr>
      </p:sp>
      <p:sp>
        <p:nvSpPr>
          <p:cNvPr id="10" name="Shape 8"/>
          <p:cNvSpPr/>
          <p:nvPr/>
        </p:nvSpPr>
        <p:spPr>
          <a:xfrm>
            <a:off x="2885846" y="2743200"/>
            <a:ext cx="1925726" cy="91440"/>
          </a:xfrm>
          <a:prstGeom prst="rect">
            <a:avLst/>
          </a:prstGeom>
          <a:solidFill>
            <a:srgbClr val="7C3AED"/>
          </a:solidFill>
          <a:ln/>
        </p:spPr>
      </p:sp>
      <p:sp>
        <p:nvSpPr>
          <p:cNvPr id="11" name="Text 9"/>
          <p:cNvSpPr/>
          <p:nvPr/>
        </p:nvSpPr>
        <p:spPr>
          <a:xfrm>
            <a:off x="2977286" y="3383280"/>
            <a:ext cx="1742846" cy="822960"/>
          </a:xfrm>
          <a:prstGeom prst="rect">
            <a:avLst/>
          </a:prstGeom>
          <a:noFill/>
          <a:ln/>
        </p:spPr>
        <p:txBody>
          <a:bodyPr wrap="square" lIns="0" tIns="0" rIns="0" bIns="0" rtlCol="0" anchor="ctr"/>
          <a:lstStyle/>
          <a:p>
            <a:pPr algn="ctr" indent="0" marL="0">
              <a:buNone/>
            </a:pPr>
            <a:r>
              <a:rPr lang="en-US" sz="3800" b="1" dirty="0">
                <a:solidFill>
                  <a:srgbClr val="7C3AED"/>
                </a:solidFill>
              </a:rPr>
              <a:t>20+</a:t>
            </a:r>
            <a:endParaRPr lang="en-US" sz="3800" dirty="0"/>
          </a:p>
        </p:txBody>
      </p:sp>
      <p:sp>
        <p:nvSpPr>
          <p:cNvPr id="12" name="Text 10"/>
          <p:cNvSpPr/>
          <p:nvPr/>
        </p:nvSpPr>
        <p:spPr>
          <a:xfrm>
            <a:off x="3023006" y="4251960"/>
            <a:ext cx="1651406" cy="640080"/>
          </a:xfrm>
          <a:prstGeom prst="rect">
            <a:avLst/>
          </a:prstGeom>
          <a:noFill/>
          <a:ln/>
        </p:spPr>
        <p:txBody>
          <a:bodyPr wrap="square" lIns="0" tIns="0" rIns="0" bIns="0" rtlCol="0" anchor="ctr"/>
          <a:lstStyle/>
          <a:p>
            <a:pPr algn="ctr" indent="0" marL="0">
              <a:lnSpc>
                <a:spcPts val="1500"/>
              </a:lnSpc>
              <a:buNone/>
            </a:pPr>
            <a:r>
              <a:rPr lang="en-US" sz="1200" dirty="0">
                <a:solidFill>
                  <a:srgbClr val="6B7280"/>
                </a:solidFill>
              </a:rPr>
              <a:t>expert courses</a:t>
            </a:r>
            <a:endParaRPr lang="en-US" sz="1200" dirty="0"/>
          </a:p>
        </p:txBody>
      </p:sp>
      <p:sp>
        <p:nvSpPr>
          <p:cNvPr id="13" name="Shape 11"/>
          <p:cNvSpPr/>
          <p:nvPr/>
        </p:nvSpPr>
        <p:spPr>
          <a:xfrm>
            <a:off x="5131613" y="2743200"/>
            <a:ext cx="1925726" cy="2377440"/>
          </a:xfrm>
          <a:prstGeom prst="roundRect">
            <a:avLst>
              <a:gd name="adj" fmla="val 5698"/>
            </a:avLst>
          </a:prstGeom>
          <a:solidFill>
            <a:srgbClr val="F9FAFB"/>
          </a:solidFill>
          <a:ln w="12700">
            <a:solidFill>
              <a:srgbClr val="E5E7EB"/>
            </a:solidFill>
            <a:prstDash val="solid"/>
          </a:ln>
        </p:spPr>
      </p:sp>
      <p:sp>
        <p:nvSpPr>
          <p:cNvPr id="14" name="Shape 12"/>
          <p:cNvSpPr/>
          <p:nvPr/>
        </p:nvSpPr>
        <p:spPr>
          <a:xfrm>
            <a:off x="5131613" y="2743200"/>
            <a:ext cx="1925726" cy="91440"/>
          </a:xfrm>
          <a:prstGeom prst="rect">
            <a:avLst/>
          </a:prstGeom>
          <a:solidFill>
            <a:srgbClr val="2563EB"/>
          </a:solidFill>
          <a:ln/>
        </p:spPr>
      </p:sp>
      <p:sp>
        <p:nvSpPr>
          <p:cNvPr id="15" name="Text 13"/>
          <p:cNvSpPr/>
          <p:nvPr/>
        </p:nvSpPr>
        <p:spPr>
          <a:xfrm>
            <a:off x="5223053" y="3383280"/>
            <a:ext cx="1742846" cy="822960"/>
          </a:xfrm>
          <a:prstGeom prst="rect">
            <a:avLst/>
          </a:prstGeom>
          <a:noFill/>
          <a:ln/>
        </p:spPr>
        <p:txBody>
          <a:bodyPr wrap="square" lIns="0" tIns="0" rIns="0" bIns="0" rtlCol="0" anchor="ctr"/>
          <a:lstStyle/>
          <a:p>
            <a:pPr algn="ctr" indent="0" marL="0">
              <a:buNone/>
            </a:pPr>
            <a:r>
              <a:rPr lang="en-US" sz="3800" b="1" dirty="0">
                <a:solidFill>
                  <a:srgbClr val="2563EB"/>
                </a:solidFill>
              </a:rPr>
              <a:t>95+</a:t>
            </a:r>
            <a:endParaRPr lang="en-US" sz="3800" dirty="0"/>
          </a:p>
        </p:txBody>
      </p:sp>
      <p:sp>
        <p:nvSpPr>
          <p:cNvPr id="16" name="Text 14"/>
          <p:cNvSpPr/>
          <p:nvPr/>
        </p:nvSpPr>
        <p:spPr>
          <a:xfrm>
            <a:off x="5268773" y="4251960"/>
            <a:ext cx="1651406" cy="640080"/>
          </a:xfrm>
          <a:prstGeom prst="rect">
            <a:avLst/>
          </a:prstGeom>
          <a:noFill/>
          <a:ln/>
        </p:spPr>
        <p:txBody>
          <a:bodyPr wrap="square" lIns="0" tIns="0" rIns="0" bIns="0" rtlCol="0" anchor="ctr"/>
          <a:lstStyle/>
          <a:p>
            <a:pPr algn="ctr" indent="0" marL="0">
              <a:lnSpc>
                <a:spcPts val="1500"/>
              </a:lnSpc>
              <a:buNone/>
            </a:pPr>
            <a:r>
              <a:rPr lang="en-US" sz="1200" dirty="0">
                <a:solidFill>
                  <a:srgbClr val="6B7280"/>
                </a:solidFill>
              </a:rPr>
              <a:t>languages supported</a:t>
            </a:r>
            <a:endParaRPr lang="en-US" sz="1200" dirty="0"/>
          </a:p>
        </p:txBody>
      </p:sp>
      <p:sp>
        <p:nvSpPr>
          <p:cNvPr id="17" name="Shape 15"/>
          <p:cNvSpPr/>
          <p:nvPr/>
        </p:nvSpPr>
        <p:spPr>
          <a:xfrm>
            <a:off x="7377379" y="2743200"/>
            <a:ext cx="1925726" cy="2377440"/>
          </a:xfrm>
          <a:prstGeom prst="roundRect">
            <a:avLst>
              <a:gd name="adj" fmla="val 5698"/>
            </a:avLst>
          </a:prstGeom>
          <a:solidFill>
            <a:srgbClr val="F9FAFB"/>
          </a:solidFill>
          <a:ln w="12700">
            <a:solidFill>
              <a:srgbClr val="E5E7EB"/>
            </a:solidFill>
            <a:prstDash val="solid"/>
          </a:ln>
        </p:spPr>
      </p:sp>
      <p:sp>
        <p:nvSpPr>
          <p:cNvPr id="18" name="Shape 16"/>
          <p:cNvSpPr/>
          <p:nvPr/>
        </p:nvSpPr>
        <p:spPr>
          <a:xfrm>
            <a:off x="7377379" y="2743200"/>
            <a:ext cx="1925726" cy="91440"/>
          </a:xfrm>
          <a:prstGeom prst="rect">
            <a:avLst/>
          </a:prstGeom>
          <a:solidFill>
            <a:srgbClr val="7C3AED"/>
          </a:solidFill>
          <a:ln/>
        </p:spPr>
      </p:sp>
      <p:sp>
        <p:nvSpPr>
          <p:cNvPr id="19" name="Text 17"/>
          <p:cNvSpPr/>
          <p:nvPr/>
        </p:nvSpPr>
        <p:spPr>
          <a:xfrm>
            <a:off x="7468819" y="3383280"/>
            <a:ext cx="1742846" cy="822960"/>
          </a:xfrm>
          <a:prstGeom prst="rect">
            <a:avLst/>
          </a:prstGeom>
          <a:noFill/>
          <a:ln/>
        </p:spPr>
        <p:txBody>
          <a:bodyPr wrap="square" lIns="0" tIns="0" rIns="0" bIns="0" rtlCol="0" anchor="ctr"/>
          <a:lstStyle/>
          <a:p>
            <a:pPr algn="ctr" indent="0" marL="0">
              <a:buNone/>
            </a:pPr>
            <a:r>
              <a:rPr lang="en-US" sz="3800" b="1" dirty="0">
                <a:solidFill>
                  <a:srgbClr val="7C3AED"/>
                </a:solidFill>
              </a:rPr>
              <a:t>12</a:t>
            </a:r>
            <a:endParaRPr lang="en-US" sz="3800" dirty="0"/>
          </a:p>
        </p:txBody>
      </p:sp>
      <p:sp>
        <p:nvSpPr>
          <p:cNvPr id="20" name="Text 18"/>
          <p:cNvSpPr/>
          <p:nvPr/>
        </p:nvSpPr>
        <p:spPr>
          <a:xfrm>
            <a:off x="7514539" y="4251960"/>
            <a:ext cx="1651406" cy="640080"/>
          </a:xfrm>
          <a:prstGeom prst="rect">
            <a:avLst/>
          </a:prstGeom>
          <a:noFill/>
          <a:ln/>
        </p:spPr>
        <p:txBody>
          <a:bodyPr wrap="square" lIns="0" tIns="0" rIns="0" bIns="0" rtlCol="0" anchor="ctr"/>
          <a:lstStyle/>
          <a:p>
            <a:pPr algn="ctr" indent="0" marL="0">
              <a:lnSpc>
                <a:spcPts val="1500"/>
              </a:lnSpc>
              <a:buNone/>
            </a:pPr>
            <a:r>
              <a:rPr lang="en-US" sz="1200" dirty="0">
                <a:solidFill>
                  <a:srgbClr val="6B7280"/>
                </a:solidFill>
              </a:rPr>
              <a:t>live human tutors</a:t>
            </a:r>
            <a:endParaRPr lang="en-US" sz="1200" dirty="0"/>
          </a:p>
        </p:txBody>
      </p:sp>
      <p:sp>
        <p:nvSpPr>
          <p:cNvPr id="21" name="Shape 19"/>
          <p:cNvSpPr/>
          <p:nvPr/>
        </p:nvSpPr>
        <p:spPr>
          <a:xfrm>
            <a:off x="9623146" y="2743200"/>
            <a:ext cx="1925726" cy="2377440"/>
          </a:xfrm>
          <a:prstGeom prst="roundRect">
            <a:avLst>
              <a:gd name="adj" fmla="val 5698"/>
            </a:avLst>
          </a:prstGeom>
          <a:solidFill>
            <a:srgbClr val="F9FAFB"/>
          </a:solidFill>
          <a:ln w="12700">
            <a:solidFill>
              <a:srgbClr val="E5E7EB"/>
            </a:solidFill>
            <a:prstDash val="solid"/>
          </a:ln>
        </p:spPr>
      </p:sp>
      <p:sp>
        <p:nvSpPr>
          <p:cNvPr id="22" name="Shape 20"/>
          <p:cNvSpPr/>
          <p:nvPr/>
        </p:nvSpPr>
        <p:spPr>
          <a:xfrm>
            <a:off x="9623146" y="2743200"/>
            <a:ext cx="1925726" cy="91440"/>
          </a:xfrm>
          <a:prstGeom prst="rect">
            <a:avLst/>
          </a:prstGeom>
          <a:solidFill>
            <a:srgbClr val="10B981"/>
          </a:solidFill>
          <a:ln/>
        </p:spPr>
      </p:sp>
      <p:sp>
        <p:nvSpPr>
          <p:cNvPr id="23" name="Text 21"/>
          <p:cNvSpPr/>
          <p:nvPr/>
        </p:nvSpPr>
        <p:spPr>
          <a:xfrm>
            <a:off x="9714586" y="3383280"/>
            <a:ext cx="1742846" cy="822960"/>
          </a:xfrm>
          <a:prstGeom prst="rect">
            <a:avLst/>
          </a:prstGeom>
          <a:noFill/>
          <a:ln/>
        </p:spPr>
        <p:txBody>
          <a:bodyPr wrap="square" lIns="0" tIns="0" rIns="0" bIns="0" rtlCol="0" anchor="ctr"/>
          <a:lstStyle/>
          <a:p>
            <a:pPr algn="ctr" indent="0" marL="0">
              <a:buNone/>
            </a:pPr>
            <a:r>
              <a:rPr lang="en-US" sz="3800" b="1" dirty="0">
                <a:solidFill>
                  <a:srgbClr val="10B981"/>
                </a:solidFill>
              </a:rPr>
              <a:t>100%</a:t>
            </a:r>
            <a:endParaRPr lang="en-US" sz="3800" dirty="0"/>
          </a:p>
        </p:txBody>
      </p:sp>
      <p:sp>
        <p:nvSpPr>
          <p:cNvPr id="24" name="Text 22"/>
          <p:cNvSpPr/>
          <p:nvPr/>
        </p:nvSpPr>
        <p:spPr>
          <a:xfrm>
            <a:off x="9760306" y="4251960"/>
            <a:ext cx="1651406" cy="640080"/>
          </a:xfrm>
          <a:prstGeom prst="rect">
            <a:avLst/>
          </a:prstGeom>
          <a:noFill/>
          <a:ln/>
        </p:spPr>
        <p:txBody>
          <a:bodyPr wrap="square" lIns="0" tIns="0" rIns="0" bIns="0" rtlCol="0" anchor="ctr"/>
          <a:lstStyle/>
          <a:p>
            <a:pPr algn="ctr" indent="0" marL="0">
              <a:lnSpc>
                <a:spcPts val="1500"/>
              </a:lnSpc>
              <a:buNone/>
            </a:pPr>
            <a:r>
              <a:rPr lang="en-US" sz="1200" dirty="0">
                <a:solidFill>
                  <a:srgbClr val="6B7280"/>
                </a:solidFill>
              </a:rPr>
              <a:t>free for students</a:t>
            </a:r>
            <a:endParaRPr lang="en-US" sz="1200" dirty="0"/>
          </a:p>
        </p:txBody>
      </p:sp>
      <p:sp>
        <p:nvSpPr>
          <p:cNvPr id="25" name="Text 23"/>
          <p:cNvSpPr/>
          <p:nvPr/>
        </p:nvSpPr>
        <p:spPr>
          <a:xfrm>
            <a:off x="640080" y="5577840"/>
            <a:ext cx="10058400" cy="274320"/>
          </a:xfrm>
          <a:prstGeom prst="rect">
            <a:avLst/>
          </a:prstGeom>
          <a:noFill/>
          <a:ln/>
        </p:spPr>
        <p:txBody>
          <a:bodyPr wrap="square" lIns="0" tIns="0" rIns="0" bIns="0" rtlCol="0" anchor="ctr"/>
          <a:lstStyle/>
          <a:p>
            <a:pPr indent="0" marL="0">
              <a:buNone/>
            </a:pPr>
            <a:r>
              <a:rPr lang="en-US" sz="1100" i="1" dirty="0">
                <a:solidFill>
                  <a:srgbClr val="9CA3AF"/>
                </a:solidFill>
              </a:rPr>
              <a:t>Numbers reflect the platform's launch targets and current catalog.</a:t>
            </a:r>
            <a:endParaRPr lang="en-US" sz="1100" dirty="0"/>
          </a:p>
        </p:txBody>
      </p:sp>
      <p:sp>
        <p:nvSpPr>
          <p:cNvPr id="26" name="Text 24"/>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27" name="Text 25"/>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12648"/>
            <a:ext cx="109728" cy="109728"/>
          </a:xfrm>
          <a:prstGeom prst="ellipse">
            <a:avLst/>
          </a:prstGeom>
          <a:solidFill>
            <a:srgbClr val="7C3AED"/>
          </a:solidFill>
          <a:ln/>
        </p:spPr>
      </p:sp>
      <p:sp>
        <p:nvSpPr>
          <p:cNvPr id="3" name="Text 1"/>
          <p:cNvSpPr/>
          <p:nvPr/>
        </p:nvSpPr>
        <p:spPr>
          <a:xfrm>
            <a:off x="841248" y="566928"/>
            <a:ext cx="7315200" cy="274320"/>
          </a:xfrm>
          <a:prstGeom prst="rect">
            <a:avLst/>
          </a:prstGeom>
          <a:noFill/>
          <a:ln/>
        </p:spPr>
        <p:txBody>
          <a:bodyPr wrap="square" lIns="0" tIns="0" rIns="0" bIns="0" rtlCol="0" anchor="ctr"/>
          <a:lstStyle/>
          <a:p>
            <a:pPr indent="0" marL="0">
              <a:buNone/>
            </a:pPr>
            <a:r>
              <a:rPr lang="en-US" sz="1100" b="1" spc="200" kern="0" dirty="0">
                <a:solidFill>
                  <a:srgbClr val="2563EB"/>
                </a:solidFill>
              </a:rPr>
              <a:t>THE CATALOG</a:t>
            </a:r>
            <a:endParaRPr lang="en-US" sz="1100" dirty="0"/>
          </a:p>
        </p:txBody>
      </p:sp>
      <p:sp>
        <p:nvSpPr>
          <p:cNvPr id="4" name="Text 2"/>
          <p:cNvSpPr/>
          <p:nvPr/>
        </p:nvSpPr>
        <p:spPr>
          <a:xfrm>
            <a:off x="640080" y="914400"/>
            <a:ext cx="10881360" cy="822960"/>
          </a:xfrm>
          <a:prstGeom prst="rect">
            <a:avLst/>
          </a:prstGeom>
          <a:noFill/>
          <a:ln/>
        </p:spPr>
        <p:txBody>
          <a:bodyPr wrap="square" lIns="0" tIns="0" rIns="0" bIns="0" rtlCol="0" anchor="ctr"/>
          <a:lstStyle/>
          <a:p>
            <a:pPr indent="0" marL="0">
              <a:buNone/>
            </a:pPr>
            <a:r>
              <a:rPr lang="en-US" sz="3200" b="1" dirty="0">
                <a:solidFill>
                  <a:srgbClr val="111827"/>
                </a:solidFill>
                <a:latin typeface="Arial" pitchFamily="34" charset="0"/>
                <a:ea typeface="Arial" pitchFamily="34" charset="-122"/>
                <a:cs typeface="Arial" pitchFamily="34" charset="-120"/>
              </a:rPr>
              <a:t>20 expert courses across 16 subjects</a:t>
            </a:r>
            <a:endParaRPr lang="en-US" sz="3200" dirty="0"/>
          </a:p>
        </p:txBody>
      </p:sp>
      <p:sp>
        <p:nvSpPr>
          <p:cNvPr id="5" name="Text 3"/>
          <p:cNvSpPr/>
          <p:nvPr/>
        </p:nvSpPr>
        <p:spPr>
          <a:xfrm>
            <a:off x="640080" y="1691640"/>
            <a:ext cx="10607040" cy="548640"/>
          </a:xfrm>
          <a:prstGeom prst="rect">
            <a:avLst/>
          </a:prstGeom>
          <a:noFill/>
          <a:ln/>
        </p:spPr>
        <p:txBody>
          <a:bodyPr wrap="square" lIns="0" tIns="0" rIns="0" bIns="0" rtlCol="0" anchor="ctr"/>
          <a:lstStyle/>
          <a:p>
            <a:pPr indent="0" marL="0">
              <a:lnSpc>
                <a:spcPts val="2000"/>
              </a:lnSpc>
              <a:buNone/>
            </a:pPr>
            <a:r>
              <a:rPr lang="en-US" sz="1350" dirty="0">
                <a:solidFill>
                  <a:srgbClr val="6B7280"/>
                </a:solidFill>
              </a:rPr>
              <a:t>From computer science to public health — taught by a deliberately global faculty. Diverse teachers aren't a footnote; they're the mission made visible.</a:t>
            </a:r>
            <a:endParaRPr lang="en-US" sz="1350" dirty="0"/>
          </a:p>
        </p:txBody>
      </p:sp>
      <p:sp>
        <p:nvSpPr>
          <p:cNvPr id="6" name="Shape 4"/>
          <p:cNvSpPr/>
          <p:nvPr/>
        </p:nvSpPr>
        <p:spPr>
          <a:xfrm>
            <a:off x="640080" y="2377440"/>
            <a:ext cx="2555748" cy="502920"/>
          </a:xfrm>
          <a:prstGeom prst="roundRect">
            <a:avLst>
              <a:gd name="adj" fmla="val 14545"/>
            </a:avLst>
          </a:prstGeom>
          <a:solidFill>
            <a:srgbClr val="F9FAFB"/>
          </a:solidFill>
          <a:ln w="12700">
            <a:solidFill>
              <a:srgbClr val="E5E7EB"/>
            </a:solidFill>
            <a:prstDash val="solid"/>
          </a:ln>
        </p:spPr>
      </p:sp>
      <p:sp>
        <p:nvSpPr>
          <p:cNvPr id="7" name="Text 5"/>
          <p:cNvSpPr/>
          <p:nvPr/>
        </p:nvSpPr>
        <p:spPr>
          <a:xfrm>
            <a:off x="731520" y="2377440"/>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Computer Science</a:t>
            </a:r>
            <a:endParaRPr lang="en-US" sz="1200" dirty="0"/>
          </a:p>
        </p:txBody>
      </p:sp>
      <p:sp>
        <p:nvSpPr>
          <p:cNvPr id="8" name="Shape 6"/>
          <p:cNvSpPr/>
          <p:nvPr/>
        </p:nvSpPr>
        <p:spPr>
          <a:xfrm>
            <a:off x="3424428" y="2377440"/>
            <a:ext cx="2555748" cy="502920"/>
          </a:xfrm>
          <a:prstGeom prst="roundRect">
            <a:avLst>
              <a:gd name="adj" fmla="val 14545"/>
            </a:avLst>
          </a:prstGeom>
          <a:solidFill>
            <a:srgbClr val="F9FAFB"/>
          </a:solidFill>
          <a:ln w="12700">
            <a:solidFill>
              <a:srgbClr val="E5E7EB"/>
            </a:solidFill>
            <a:prstDash val="solid"/>
          </a:ln>
        </p:spPr>
      </p:sp>
      <p:sp>
        <p:nvSpPr>
          <p:cNvPr id="9" name="Text 7"/>
          <p:cNvSpPr/>
          <p:nvPr/>
        </p:nvSpPr>
        <p:spPr>
          <a:xfrm>
            <a:off x="3515868" y="2377440"/>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Mathematics</a:t>
            </a:r>
            <a:endParaRPr lang="en-US" sz="1200" dirty="0"/>
          </a:p>
        </p:txBody>
      </p:sp>
      <p:sp>
        <p:nvSpPr>
          <p:cNvPr id="10" name="Shape 8"/>
          <p:cNvSpPr/>
          <p:nvPr/>
        </p:nvSpPr>
        <p:spPr>
          <a:xfrm>
            <a:off x="6208776" y="2377440"/>
            <a:ext cx="2555748" cy="502920"/>
          </a:xfrm>
          <a:prstGeom prst="roundRect">
            <a:avLst>
              <a:gd name="adj" fmla="val 14545"/>
            </a:avLst>
          </a:prstGeom>
          <a:solidFill>
            <a:srgbClr val="F9FAFB"/>
          </a:solidFill>
          <a:ln w="12700">
            <a:solidFill>
              <a:srgbClr val="E5E7EB"/>
            </a:solidFill>
            <a:prstDash val="solid"/>
          </a:ln>
        </p:spPr>
      </p:sp>
      <p:sp>
        <p:nvSpPr>
          <p:cNvPr id="11" name="Text 9"/>
          <p:cNvSpPr/>
          <p:nvPr/>
        </p:nvSpPr>
        <p:spPr>
          <a:xfrm>
            <a:off x="6300216" y="2377440"/>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Biology</a:t>
            </a:r>
            <a:endParaRPr lang="en-US" sz="1200" dirty="0"/>
          </a:p>
        </p:txBody>
      </p:sp>
      <p:sp>
        <p:nvSpPr>
          <p:cNvPr id="12" name="Shape 10"/>
          <p:cNvSpPr/>
          <p:nvPr/>
        </p:nvSpPr>
        <p:spPr>
          <a:xfrm>
            <a:off x="8993124" y="2377440"/>
            <a:ext cx="2555748" cy="502920"/>
          </a:xfrm>
          <a:prstGeom prst="roundRect">
            <a:avLst>
              <a:gd name="adj" fmla="val 14545"/>
            </a:avLst>
          </a:prstGeom>
          <a:solidFill>
            <a:srgbClr val="F9FAFB"/>
          </a:solidFill>
          <a:ln w="12700">
            <a:solidFill>
              <a:srgbClr val="E5E7EB"/>
            </a:solidFill>
            <a:prstDash val="solid"/>
          </a:ln>
        </p:spPr>
      </p:sp>
      <p:sp>
        <p:nvSpPr>
          <p:cNvPr id="13" name="Text 11"/>
          <p:cNvSpPr/>
          <p:nvPr/>
        </p:nvSpPr>
        <p:spPr>
          <a:xfrm>
            <a:off x="9084564" y="2377440"/>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Physics</a:t>
            </a:r>
            <a:endParaRPr lang="en-US" sz="1200" dirty="0"/>
          </a:p>
        </p:txBody>
      </p:sp>
      <p:sp>
        <p:nvSpPr>
          <p:cNvPr id="14" name="Shape 12"/>
          <p:cNvSpPr/>
          <p:nvPr/>
        </p:nvSpPr>
        <p:spPr>
          <a:xfrm>
            <a:off x="640080" y="3044952"/>
            <a:ext cx="2555748" cy="502920"/>
          </a:xfrm>
          <a:prstGeom prst="roundRect">
            <a:avLst>
              <a:gd name="adj" fmla="val 14545"/>
            </a:avLst>
          </a:prstGeom>
          <a:solidFill>
            <a:srgbClr val="F9FAFB"/>
          </a:solidFill>
          <a:ln w="12700">
            <a:solidFill>
              <a:srgbClr val="E5E7EB"/>
            </a:solidFill>
            <a:prstDash val="solid"/>
          </a:ln>
        </p:spPr>
      </p:sp>
      <p:sp>
        <p:nvSpPr>
          <p:cNvPr id="15" name="Text 13"/>
          <p:cNvSpPr/>
          <p:nvPr/>
        </p:nvSpPr>
        <p:spPr>
          <a:xfrm>
            <a:off x="731520" y="3044952"/>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Chemistry</a:t>
            </a:r>
            <a:endParaRPr lang="en-US" sz="1200" dirty="0"/>
          </a:p>
        </p:txBody>
      </p:sp>
      <p:sp>
        <p:nvSpPr>
          <p:cNvPr id="16" name="Shape 14"/>
          <p:cNvSpPr/>
          <p:nvPr/>
        </p:nvSpPr>
        <p:spPr>
          <a:xfrm>
            <a:off x="3424428" y="3044952"/>
            <a:ext cx="2555748" cy="502920"/>
          </a:xfrm>
          <a:prstGeom prst="roundRect">
            <a:avLst>
              <a:gd name="adj" fmla="val 14545"/>
            </a:avLst>
          </a:prstGeom>
          <a:solidFill>
            <a:srgbClr val="F9FAFB"/>
          </a:solidFill>
          <a:ln w="12700">
            <a:solidFill>
              <a:srgbClr val="E5E7EB"/>
            </a:solidFill>
            <a:prstDash val="solid"/>
          </a:ln>
        </p:spPr>
      </p:sp>
      <p:sp>
        <p:nvSpPr>
          <p:cNvPr id="17" name="Text 15"/>
          <p:cNvSpPr/>
          <p:nvPr/>
        </p:nvSpPr>
        <p:spPr>
          <a:xfrm>
            <a:off x="3515868" y="3044952"/>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Data Science</a:t>
            </a:r>
            <a:endParaRPr lang="en-US" sz="1200" dirty="0"/>
          </a:p>
        </p:txBody>
      </p:sp>
      <p:sp>
        <p:nvSpPr>
          <p:cNvPr id="18" name="Shape 16"/>
          <p:cNvSpPr/>
          <p:nvPr/>
        </p:nvSpPr>
        <p:spPr>
          <a:xfrm>
            <a:off x="6208776" y="3044952"/>
            <a:ext cx="2555748" cy="502920"/>
          </a:xfrm>
          <a:prstGeom prst="roundRect">
            <a:avLst>
              <a:gd name="adj" fmla="val 14545"/>
            </a:avLst>
          </a:prstGeom>
          <a:solidFill>
            <a:srgbClr val="F9FAFB"/>
          </a:solidFill>
          <a:ln w="12700">
            <a:solidFill>
              <a:srgbClr val="E5E7EB"/>
            </a:solidFill>
            <a:prstDash val="solid"/>
          </a:ln>
        </p:spPr>
      </p:sp>
      <p:sp>
        <p:nvSpPr>
          <p:cNvPr id="19" name="Text 17"/>
          <p:cNvSpPr/>
          <p:nvPr/>
        </p:nvSpPr>
        <p:spPr>
          <a:xfrm>
            <a:off x="6300216" y="3044952"/>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Economics</a:t>
            </a:r>
            <a:endParaRPr lang="en-US" sz="1200" dirty="0"/>
          </a:p>
        </p:txBody>
      </p:sp>
      <p:sp>
        <p:nvSpPr>
          <p:cNvPr id="20" name="Shape 18"/>
          <p:cNvSpPr/>
          <p:nvPr/>
        </p:nvSpPr>
        <p:spPr>
          <a:xfrm>
            <a:off x="8993124" y="3044952"/>
            <a:ext cx="2555748" cy="502920"/>
          </a:xfrm>
          <a:prstGeom prst="roundRect">
            <a:avLst>
              <a:gd name="adj" fmla="val 14545"/>
            </a:avLst>
          </a:prstGeom>
          <a:solidFill>
            <a:srgbClr val="F9FAFB"/>
          </a:solidFill>
          <a:ln w="12700">
            <a:solidFill>
              <a:srgbClr val="E5E7EB"/>
            </a:solidFill>
            <a:prstDash val="solid"/>
          </a:ln>
        </p:spPr>
      </p:sp>
      <p:sp>
        <p:nvSpPr>
          <p:cNvPr id="21" name="Text 19"/>
          <p:cNvSpPr/>
          <p:nvPr/>
        </p:nvSpPr>
        <p:spPr>
          <a:xfrm>
            <a:off x="9084564" y="3044952"/>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Psychology</a:t>
            </a:r>
            <a:endParaRPr lang="en-US" sz="1200" dirty="0"/>
          </a:p>
        </p:txBody>
      </p:sp>
      <p:sp>
        <p:nvSpPr>
          <p:cNvPr id="22" name="Shape 20"/>
          <p:cNvSpPr/>
          <p:nvPr/>
        </p:nvSpPr>
        <p:spPr>
          <a:xfrm>
            <a:off x="640080" y="3712464"/>
            <a:ext cx="2555748" cy="502920"/>
          </a:xfrm>
          <a:prstGeom prst="roundRect">
            <a:avLst>
              <a:gd name="adj" fmla="val 14545"/>
            </a:avLst>
          </a:prstGeom>
          <a:solidFill>
            <a:srgbClr val="F9FAFB"/>
          </a:solidFill>
          <a:ln w="12700">
            <a:solidFill>
              <a:srgbClr val="E5E7EB"/>
            </a:solidFill>
            <a:prstDash val="solid"/>
          </a:ln>
        </p:spPr>
      </p:sp>
      <p:sp>
        <p:nvSpPr>
          <p:cNvPr id="23" name="Text 21"/>
          <p:cNvSpPr/>
          <p:nvPr/>
        </p:nvSpPr>
        <p:spPr>
          <a:xfrm>
            <a:off x="731520" y="3712464"/>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Philosophy</a:t>
            </a:r>
            <a:endParaRPr lang="en-US" sz="1200" dirty="0"/>
          </a:p>
        </p:txBody>
      </p:sp>
      <p:sp>
        <p:nvSpPr>
          <p:cNvPr id="24" name="Shape 22"/>
          <p:cNvSpPr/>
          <p:nvPr/>
        </p:nvSpPr>
        <p:spPr>
          <a:xfrm>
            <a:off x="3424428" y="3712464"/>
            <a:ext cx="2555748" cy="502920"/>
          </a:xfrm>
          <a:prstGeom prst="roundRect">
            <a:avLst>
              <a:gd name="adj" fmla="val 14545"/>
            </a:avLst>
          </a:prstGeom>
          <a:solidFill>
            <a:srgbClr val="F9FAFB"/>
          </a:solidFill>
          <a:ln w="12700">
            <a:solidFill>
              <a:srgbClr val="E5E7EB"/>
            </a:solidFill>
            <a:prstDash val="solid"/>
          </a:ln>
        </p:spPr>
      </p:sp>
      <p:sp>
        <p:nvSpPr>
          <p:cNvPr id="25" name="Text 23"/>
          <p:cNvSpPr/>
          <p:nvPr/>
        </p:nvSpPr>
        <p:spPr>
          <a:xfrm>
            <a:off x="3515868" y="3712464"/>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History</a:t>
            </a:r>
            <a:endParaRPr lang="en-US" sz="1200" dirty="0"/>
          </a:p>
        </p:txBody>
      </p:sp>
      <p:sp>
        <p:nvSpPr>
          <p:cNvPr id="26" name="Shape 24"/>
          <p:cNvSpPr/>
          <p:nvPr/>
        </p:nvSpPr>
        <p:spPr>
          <a:xfrm>
            <a:off x="6208776" y="3712464"/>
            <a:ext cx="2555748" cy="502920"/>
          </a:xfrm>
          <a:prstGeom prst="roundRect">
            <a:avLst>
              <a:gd name="adj" fmla="val 14545"/>
            </a:avLst>
          </a:prstGeom>
          <a:solidFill>
            <a:srgbClr val="F9FAFB"/>
          </a:solidFill>
          <a:ln w="12700">
            <a:solidFill>
              <a:srgbClr val="E5E7EB"/>
            </a:solidFill>
            <a:prstDash val="solid"/>
          </a:ln>
        </p:spPr>
      </p:sp>
      <p:sp>
        <p:nvSpPr>
          <p:cNvPr id="27" name="Text 25"/>
          <p:cNvSpPr/>
          <p:nvPr/>
        </p:nvSpPr>
        <p:spPr>
          <a:xfrm>
            <a:off x="6300216" y="3712464"/>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Public Health</a:t>
            </a:r>
            <a:endParaRPr lang="en-US" sz="1200" dirty="0"/>
          </a:p>
        </p:txBody>
      </p:sp>
      <p:sp>
        <p:nvSpPr>
          <p:cNvPr id="28" name="Shape 26"/>
          <p:cNvSpPr/>
          <p:nvPr/>
        </p:nvSpPr>
        <p:spPr>
          <a:xfrm>
            <a:off x="8993124" y="3712464"/>
            <a:ext cx="2555748" cy="502920"/>
          </a:xfrm>
          <a:prstGeom prst="roundRect">
            <a:avLst>
              <a:gd name="adj" fmla="val 14545"/>
            </a:avLst>
          </a:prstGeom>
          <a:solidFill>
            <a:srgbClr val="F9FAFB"/>
          </a:solidFill>
          <a:ln w="12700">
            <a:solidFill>
              <a:srgbClr val="E5E7EB"/>
            </a:solidFill>
            <a:prstDash val="solid"/>
          </a:ln>
        </p:spPr>
      </p:sp>
      <p:sp>
        <p:nvSpPr>
          <p:cNvPr id="29" name="Text 27"/>
          <p:cNvSpPr/>
          <p:nvPr/>
        </p:nvSpPr>
        <p:spPr>
          <a:xfrm>
            <a:off x="9084564" y="3712464"/>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Environmental Sci.</a:t>
            </a:r>
            <a:endParaRPr lang="en-US" sz="1200" dirty="0"/>
          </a:p>
        </p:txBody>
      </p:sp>
      <p:sp>
        <p:nvSpPr>
          <p:cNvPr id="30" name="Shape 28"/>
          <p:cNvSpPr/>
          <p:nvPr/>
        </p:nvSpPr>
        <p:spPr>
          <a:xfrm>
            <a:off x="640080" y="4379976"/>
            <a:ext cx="2555748" cy="502920"/>
          </a:xfrm>
          <a:prstGeom prst="roundRect">
            <a:avLst>
              <a:gd name="adj" fmla="val 14545"/>
            </a:avLst>
          </a:prstGeom>
          <a:solidFill>
            <a:srgbClr val="F9FAFB"/>
          </a:solidFill>
          <a:ln w="12700">
            <a:solidFill>
              <a:srgbClr val="E5E7EB"/>
            </a:solidFill>
            <a:prstDash val="solid"/>
          </a:ln>
        </p:spPr>
      </p:sp>
      <p:sp>
        <p:nvSpPr>
          <p:cNvPr id="31" name="Text 29"/>
          <p:cNvSpPr/>
          <p:nvPr/>
        </p:nvSpPr>
        <p:spPr>
          <a:xfrm>
            <a:off x="731520" y="4379976"/>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Creative Writing</a:t>
            </a:r>
            <a:endParaRPr lang="en-US" sz="1200" dirty="0"/>
          </a:p>
        </p:txBody>
      </p:sp>
      <p:sp>
        <p:nvSpPr>
          <p:cNvPr id="32" name="Shape 30"/>
          <p:cNvSpPr/>
          <p:nvPr/>
        </p:nvSpPr>
        <p:spPr>
          <a:xfrm>
            <a:off x="3424428" y="4379976"/>
            <a:ext cx="2555748" cy="502920"/>
          </a:xfrm>
          <a:prstGeom prst="roundRect">
            <a:avLst>
              <a:gd name="adj" fmla="val 14545"/>
            </a:avLst>
          </a:prstGeom>
          <a:solidFill>
            <a:srgbClr val="F9FAFB"/>
          </a:solidFill>
          <a:ln w="12700">
            <a:solidFill>
              <a:srgbClr val="E5E7EB"/>
            </a:solidFill>
            <a:prstDash val="solid"/>
          </a:ln>
        </p:spPr>
      </p:sp>
      <p:sp>
        <p:nvSpPr>
          <p:cNvPr id="33" name="Text 31"/>
          <p:cNvSpPr/>
          <p:nvPr/>
        </p:nvSpPr>
        <p:spPr>
          <a:xfrm>
            <a:off x="3515868" y="4379976"/>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Business</a:t>
            </a:r>
            <a:endParaRPr lang="en-US" sz="1200" dirty="0"/>
          </a:p>
        </p:txBody>
      </p:sp>
      <p:sp>
        <p:nvSpPr>
          <p:cNvPr id="34" name="Shape 32"/>
          <p:cNvSpPr/>
          <p:nvPr/>
        </p:nvSpPr>
        <p:spPr>
          <a:xfrm>
            <a:off x="6208776" y="4379976"/>
            <a:ext cx="2555748" cy="502920"/>
          </a:xfrm>
          <a:prstGeom prst="roundRect">
            <a:avLst>
              <a:gd name="adj" fmla="val 14545"/>
            </a:avLst>
          </a:prstGeom>
          <a:solidFill>
            <a:srgbClr val="F9FAFB"/>
          </a:solidFill>
          <a:ln w="12700">
            <a:solidFill>
              <a:srgbClr val="E5E7EB"/>
            </a:solidFill>
            <a:prstDash val="solid"/>
          </a:ln>
        </p:spPr>
      </p:sp>
      <p:sp>
        <p:nvSpPr>
          <p:cNvPr id="35" name="Text 33"/>
          <p:cNvSpPr/>
          <p:nvPr/>
        </p:nvSpPr>
        <p:spPr>
          <a:xfrm>
            <a:off x="6300216" y="4379976"/>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Art &amp; Culture</a:t>
            </a:r>
            <a:endParaRPr lang="en-US" sz="1200" dirty="0"/>
          </a:p>
        </p:txBody>
      </p:sp>
      <p:sp>
        <p:nvSpPr>
          <p:cNvPr id="36" name="Shape 34"/>
          <p:cNvSpPr/>
          <p:nvPr/>
        </p:nvSpPr>
        <p:spPr>
          <a:xfrm>
            <a:off x="8993124" y="4379976"/>
            <a:ext cx="2555748" cy="502920"/>
          </a:xfrm>
          <a:prstGeom prst="roundRect">
            <a:avLst>
              <a:gd name="adj" fmla="val 14545"/>
            </a:avLst>
          </a:prstGeom>
          <a:solidFill>
            <a:srgbClr val="F9FAFB"/>
          </a:solidFill>
          <a:ln w="12700">
            <a:solidFill>
              <a:srgbClr val="E5E7EB"/>
            </a:solidFill>
            <a:prstDash val="solid"/>
          </a:ln>
        </p:spPr>
      </p:sp>
      <p:sp>
        <p:nvSpPr>
          <p:cNvPr id="37" name="Text 35"/>
          <p:cNvSpPr/>
          <p:nvPr/>
        </p:nvSpPr>
        <p:spPr>
          <a:xfrm>
            <a:off x="9084564" y="4379976"/>
            <a:ext cx="2372868" cy="502920"/>
          </a:xfrm>
          <a:prstGeom prst="rect">
            <a:avLst/>
          </a:prstGeom>
          <a:noFill/>
          <a:ln/>
        </p:spPr>
        <p:txBody>
          <a:bodyPr wrap="square" lIns="0" tIns="0" rIns="0" bIns="0" rtlCol="0" anchor="ctr"/>
          <a:lstStyle/>
          <a:p>
            <a:pPr algn="ctr" indent="0" marL="0">
              <a:buNone/>
            </a:pPr>
            <a:r>
              <a:rPr lang="en-US" sz="1200" b="1" dirty="0">
                <a:solidFill>
                  <a:srgbClr val="111827"/>
                </a:solidFill>
              </a:rPr>
              <a:t>Languages</a:t>
            </a:r>
            <a:endParaRPr lang="en-US" sz="1200" dirty="0"/>
          </a:p>
        </p:txBody>
      </p:sp>
      <p:sp>
        <p:nvSpPr>
          <p:cNvPr id="38" name="Text 36"/>
          <p:cNvSpPr/>
          <p:nvPr/>
        </p:nvSpPr>
        <p:spPr>
          <a:xfrm>
            <a:off x="640080" y="5074920"/>
            <a:ext cx="3657600" cy="274320"/>
          </a:xfrm>
          <a:prstGeom prst="rect">
            <a:avLst/>
          </a:prstGeom>
          <a:noFill/>
          <a:ln/>
        </p:spPr>
        <p:txBody>
          <a:bodyPr wrap="square" lIns="0" tIns="0" rIns="0" bIns="0" rtlCol="0" anchor="ctr"/>
          <a:lstStyle/>
          <a:p>
            <a:pPr indent="0" marL="0">
              <a:buNone/>
            </a:pPr>
            <a:r>
              <a:rPr lang="en-US" sz="1150" b="1" dirty="0">
                <a:solidFill>
                  <a:srgbClr val="111827"/>
                </a:solidFill>
              </a:rPr>
              <a:t>A few of the faculty:</a:t>
            </a:r>
            <a:endParaRPr lang="en-US" sz="1150" dirty="0"/>
          </a:p>
        </p:txBody>
      </p:sp>
      <p:sp>
        <p:nvSpPr>
          <p:cNvPr id="39" name="Shape 37"/>
          <p:cNvSpPr/>
          <p:nvPr/>
        </p:nvSpPr>
        <p:spPr>
          <a:xfrm>
            <a:off x="640080" y="5394960"/>
            <a:ext cx="2521458" cy="777240"/>
          </a:xfrm>
          <a:prstGeom prst="roundRect">
            <a:avLst>
              <a:gd name="adj" fmla="val 9412"/>
            </a:avLst>
          </a:prstGeom>
          <a:solidFill>
            <a:srgbClr val="FFFFFF"/>
          </a:solidFill>
          <a:ln w="12700">
            <a:solidFill>
              <a:srgbClr val="E5E7EB"/>
            </a:solidFill>
            <a:prstDash val="solid"/>
          </a:ln>
        </p:spPr>
      </p:sp>
      <p:sp>
        <p:nvSpPr>
          <p:cNvPr id="40" name="Text 38"/>
          <p:cNvSpPr/>
          <p:nvPr/>
        </p:nvSpPr>
        <p:spPr>
          <a:xfrm>
            <a:off x="822960" y="5504688"/>
            <a:ext cx="2155698" cy="320040"/>
          </a:xfrm>
          <a:prstGeom prst="rect">
            <a:avLst/>
          </a:prstGeom>
          <a:noFill/>
          <a:ln/>
        </p:spPr>
        <p:txBody>
          <a:bodyPr wrap="square" lIns="0" tIns="0" rIns="0" bIns="0" rtlCol="0" anchor="ctr"/>
          <a:lstStyle/>
          <a:p>
            <a:pPr indent="0" marL="0">
              <a:buNone/>
            </a:pPr>
            <a:r>
              <a:rPr lang="en-US" sz="1250" b="1" dirty="0">
                <a:solidFill>
                  <a:srgbClr val="111827"/>
                </a:solidFill>
              </a:rPr>
              <a:t>Dr. Amara Osei</a:t>
            </a:r>
            <a:endParaRPr lang="en-US" sz="1250" dirty="0"/>
          </a:p>
        </p:txBody>
      </p:sp>
      <p:sp>
        <p:nvSpPr>
          <p:cNvPr id="41" name="Text 39"/>
          <p:cNvSpPr/>
          <p:nvPr/>
        </p:nvSpPr>
        <p:spPr>
          <a:xfrm>
            <a:off x="822960" y="5824728"/>
            <a:ext cx="2155698" cy="274320"/>
          </a:xfrm>
          <a:prstGeom prst="rect">
            <a:avLst/>
          </a:prstGeom>
          <a:noFill/>
          <a:ln/>
        </p:spPr>
        <p:txBody>
          <a:bodyPr wrap="square" lIns="0" tIns="0" rIns="0" bIns="0" rtlCol="0" anchor="ctr"/>
          <a:lstStyle/>
          <a:p>
            <a:pPr indent="0" marL="0">
              <a:buNone/>
            </a:pPr>
            <a:r>
              <a:rPr lang="en-US" sz="1050" dirty="0">
                <a:solidFill>
                  <a:srgbClr val="2563EB"/>
                </a:solidFill>
              </a:rPr>
              <a:t>University of Nairobi</a:t>
            </a:r>
            <a:endParaRPr lang="en-US" sz="1050" dirty="0"/>
          </a:p>
        </p:txBody>
      </p:sp>
      <p:sp>
        <p:nvSpPr>
          <p:cNvPr id="42" name="Shape 40"/>
          <p:cNvSpPr/>
          <p:nvPr/>
        </p:nvSpPr>
        <p:spPr>
          <a:xfrm>
            <a:off x="3435858" y="5394960"/>
            <a:ext cx="2521458" cy="777240"/>
          </a:xfrm>
          <a:prstGeom prst="roundRect">
            <a:avLst>
              <a:gd name="adj" fmla="val 9412"/>
            </a:avLst>
          </a:prstGeom>
          <a:solidFill>
            <a:srgbClr val="FFFFFF"/>
          </a:solidFill>
          <a:ln w="12700">
            <a:solidFill>
              <a:srgbClr val="E5E7EB"/>
            </a:solidFill>
            <a:prstDash val="solid"/>
          </a:ln>
        </p:spPr>
      </p:sp>
      <p:sp>
        <p:nvSpPr>
          <p:cNvPr id="43" name="Text 41"/>
          <p:cNvSpPr/>
          <p:nvPr/>
        </p:nvSpPr>
        <p:spPr>
          <a:xfrm>
            <a:off x="3618738" y="5504688"/>
            <a:ext cx="2155698" cy="320040"/>
          </a:xfrm>
          <a:prstGeom prst="rect">
            <a:avLst/>
          </a:prstGeom>
          <a:noFill/>
          <a:ln/>
        </p:spPr>
        <p:txBody>
          <a:bodyPr wrap="square" lIns="0" tIns="0" rIns="0" bIns="0" rtlCol="0" anchor="ctr"/>
          <a:lstStyle/>
          <a:p>
            <a:pPr indent="0" marL="0">
              <a:buNone/>
            </a:pPr>
            <a:r>
              <a:rPr lang="en-US" sz="1250" b="1" dirty="0">
                <a:solidFill>
                  <a:srgbClr val="111827"/>
                </a:solidFill>
              </a:rPr>
              <a:t>Prof. Priya Sharma</a:t>
            </a:r>
            <a:endParaRPr lang="en-US" sz="1250" dirty="0"/>
          </a:p>
        </p:txBody>
      </p:sp>
      <p:sp>
        <p:nvSpPr>
          <p:cNvPr id="44" name="Text 42"/>
          <p:cNvSpPr/>
          <p:nvPr/>
        </p:nvSpPr>
        <p:spPr>
          <a:xfrm>
            <a:off x="3618738" y="5824728"/>
            <a:ext cx="2155698" cy="274320"/>
          </a:xfrm>
          <a:prstGeom prst="rect">
            <a:avLst/>
          </a:prstGeom>
          <a:noFill/>
          <a:ln/>
        </p:spPr>
        <p:txBody>
          <a:bodyPr wrap="square" lIns="0" tIns="0" rIns="0" bIns="0" rtlCol="0" anchor="ctr"/>
          <a:lstStyle/>
          <a:p>
            <a:pPr indent="0" marL="0">
              <a:buNone/>
            </a:pPr>
            <a:r>
              <a:rPr lang="en-US" sz="1050" dirty="0">
                <a:solidFill>
                  <a:srgbClr val="2563EB"/>
                </a:solidFill>
              </a:rPr>
              <a:t>IIT Bombay</a:t>
            </a:r>
            <a:endParaRPr lang="en-US" sz="1050" dirty="0"/>
          </a:p>
        </p:txBody>
      </p:sp>
      <p:sp>
        <p:nvSpPr>
          <p:cNvPr id="45" name="Shape 43"/>
          <p:cNvSpPr/>
          <p:nvPr/>
        </p:nvSpPr>
        <p:spPr>
          <a:xfrm>
            <a:off x="6231636" y="5394960"/>
            <a:ext cx="2521458" cy="777240"/>
          </a:xfrm>
          <a:prstGeom prst="roundRect">
            <a:avLst>
              <a:gd name="adj" fmla="val 9412"/>
            </a:avLst>
          </a:prstGeom>
          <a:solidFill>
            <a:srgbClr val="FFFFFF"/>
          </a:solidFill>
          <a:ln w="12700">
            <a:solidFill>
              <a:srgbClr val="E5E7EB"/>
            </a:solidFill>
            <a:prstDash val="solid"/>
          </a:ln>
        </p:spPr>
      </p:sp>
      <p:sp>
        <p:nvSpPr>
          <p:cNvPr id="46" name="Text 44"/>
          <p:cNvSpPr/>
          <p:nvPr/>
        </p:nvSpPr>
        <p:spPr>
          <a:xfrm>
            <a:off x="6414516" y="5504688"/>
            <a:ext cx="2155698" cy="320040"/>
          </a:xfrm>
          <a:prstGeom prst="rect">
            <a:avLst/>
          </a:prstGeom>
          <a:noFill/>
          <a:ln/>
        </p:spPr>
        <p:txBody>
          <a:bodyPr wrap="square" lIns="0" tIns="0" rIns="0" bIns="0" rtlCol="0" anchor="ctr"/>
          <a:lstStyle/>
          <a:p>
            <a:pPr indent="0" marL="0">
              <a:buNone/>
            </a:pPr>
            <a:r>
              <a:rPr lang="en-US" sz="1250" b="1" dirty="0">
                <a:solidFill>
                  <a:srgbClr val="111827"/>
                </a:solidFill>
              </a:rPr>
              <a:t>Prof. David Miller</a:t>
            </a:r>
            <a:endParaRPr lang="en-US" sz="1250" dirty="0"/>
          </a:p>
        </p:txBody>
      </p:sp>
      <p:sp>
        <p:nvSpPr>
          <p:cNvPr id="47" name="Text 45"/>
          <p:cNvSpPr/>
          <p:nvPr/>
        </p:nvSpPr>
        <p:spPr>
          <a:xfrm>
            <a:off x="6414516" y="5824728"/>
            <a:ext cx="2155698" cy="274320"/>
          </a:xfrm>
          <a:prstGeom prst="rect">
            <a:avLst/>
          </a:prstGeom>
          <a:noFill/>
          <a:ln/>
        </p:spPr>
        <p:txBody>
          <a:bodyPr wrap="square" lIns="0" tIns="0" rIns="0" bIns="0" rtlCol="0" anchor="ctr"/>
          <a:lstStyle/>
          <a:p>
            <a:pPr indent="0" marL="0">
              <a:buNone/>
            </a:pPr>
            <a:r>
              <a:rPr lang="en-US" sz="1050" dirty="0">
                <a:solidFill>
                  <a:srgbClr val="2563EB"/>
                </a:solidFill>
              </a:rPr>
              <a:t>MIT OpenCourseWare</a:t>
            </a:r>
            <a:endParaRPr lang="en-US" sz="1050" dirty="0"/>
          </a:p>
        </p:txBody>
      </p:sp>
      <p:sp>
        <p:nvSpPr>
          <p:cNvPr id="48" name="Shape 46"/>
          <p:cNvSpPr/>
          <p:nvPr/>
        </p:nvSpPr>
        <p:spPr>
          <a:xfrm>
            <a:off x="9027414" y="5394960"/>
            <a:ext cx="2521458" cy="777240"/>
          </a:xfrm>
          <a:prstGeom prst="roundRect">
            <a:avLst>
              <a:gd name="adj" fmla="val 9412"/>
            </a:avLst>
          </a:prstGeom>
          <a:solidFill>
            <a:srgbClr val="FFFFFF"/>
          </a:solidFill>
          <a:ln w="12700">
            <a:solidFill>
              <a:srgbClr val="E5E7EB"/>
            </a:solidFill>
            <a:prstDash val="solid"/>
          </a:ln>
        </p:spPr>
      </p:sp>
      <p:sp>
        <p:nvSpPr>
          <p:cNvPr id="49" name="Text 47"/>
          <p:cNvSpPr/>
          <p:nvPr/>
        </p:nvSpPr>
        <p:spPr>
          <a:xfrm>
            <a:off x="9210294" y="5504688"/>
            <a:ext cx="2155698" cy="320040"/>
          </a:xfrm>
          <a:prstGeom prst="rect">
            <a:avLst/>
          </a:prstGeom>
          <a:noFill/>
          <a:ln/>
        </p:spPr>
        <p:txBody>
          <a:bodyPr wrap="square" lIns="0" tIns="0" rIns="0" bIns="0" rtlCol="0" anchor="ctr"/>
          <a:lstStyle/>
          <a:p>
            <a:pPr indent="0" marL="0">
              <a:buNone/>
            </a:pPr>
            <a:r>
              <a:rPr lang="en-US" sz="1250" b="1" dirty="0">
                <a:solidFill>
                  <a:srgbClr val="111827"/>
                </a:solidFill>
              </a:rPr>
              <a:t>Dr. Angela Yu</a:t>
            </a:r>
            <a:endParaRPr lang="en-US" sz="1250" dirty="0"/>
          </a:p>
        </p:txBody>
      </p:sp>
      <p:sp>
        <p:nvSpPr>
          <p:cNvPr id="50" name="Text 48"/>
          <p:cNvSpPr/>
          <p:nvPr/>
        </p:nvSpPr>
        <p:spPr>
          <a:xfrm>
            <a:off x="9210294" y="5824728"/>
            <a:ext cx="2155698" cy="274320"/>
          </a:xfrm>
          <a:prstGeom prst="rect">
            <a:avLst/>
          </a:prstGeom>
          <a:noFill/>
          <a:ln/>
        </p:spPr>
        <p:txBody>
          <a:bodyPr wrap="square" lIns="0" tIns="0" rIns="0" bIns="0" rtlCol="0" anchor="ctr"/>
          <a:lstStyle/>
          <a:p>
            <a:pPr indent="0" marL="0">
              <a:buNone/>
            </a:pPr>
            <a:r>
              <a:rPr lang="en-US" sz="1050" dirty="0">
                <a:solidFill>
                  <a:srgbClr val="2563EB"/>
                </a:solidFill>
              </a:rPr>
              <a:t>App Brewery, London</a:t>
            </a:r>
            <a:endParaRPr lang="en-US" sz="1050" dirty="0"/>
          </a:p>
        </p:txBody>
      </p:sp>
      <p:sp>
        <p:nvSpPr>
          <p:cNvPr id="51" name="Text 49"/>
          <p:cNvSpPr/>
          <p:nvPr/>
        </p:nvSpPr>
        <p:spPr>
          <a:xfrm>
            <a:off x="640080" y="6446520"/>
            <a:ext cx="3657600" cy="274320"/>
          </a:xfrm>
          <a:prstGeom prst="rect">
            <a:avLst/>
          </a:prstGeom>
          <a:noFill/>
          <a:ln/>
        </p:spPr>
        <p:txBody>
          <a:bodyPr wrap="square" lIns="0" tIns="0" rIns="0" bIns="0" rtlCol="0" anchor="ctr"/>
          <a:lstStyle/>
          <a:p>
            <a:pPr algn="l" indent="0" marL="0">
              <a:buNone/>
            </a:pPr>
            <a:r>
              <a:rPr lang="en-US" sz="900" dirty="0">
                <a:solidFill>
                  <a:srgbClr val="9CA3AF"/>
                </a:solidFill>
              </a:rPr>
              <a:t>LearnBridge</a:t>
            </a:r>
            <a:endParaRPr lang="en-US" sz="900" dirty="0"/>
          </a:p>
        </p:txBody>
      </p:sp>
      <p:sp>
        <p:nvSpPr>
          <p:cNvPr id="52" name="Text 50"/>
          <p:cNvSpPr/>
          <p:nvPr/>
        </p:nvSpPr>
        <p:spPr>
          <a:xfrm>
            <a:off x="10634472" y="6446520"/>
            <a:ext cx="914400" cy="274320"/>
          </a:xfrm>
          <a:prstGeom prst="rect">
            <a:avLst/>
          </a:prstGeom>
          <a:noFill/>
          <a:ln/>
        </p:spPr>
        <p:txBody>
          <a:bodyPr wrap="square" lIns="0" tIns="0" rIns="0" bIns="0" rtlCol="0" anchor="ctr"/>
          <a:lstStyle/>
          <a:p>
            <a:pPr algn="r" indent="0" marL="0">
              <a:buNone/>
            </a:pPr>
            <a:r>
              <a:rPr lang="en-US" sz="900" dirty="0">
                <a:solidFill>
                  <a:srgbClr val="9CA3AF"/>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i_quote.png">    </p:cNvPr>
          <p:cNvPicPr>
            <a:picLocks noChangeAspect="1"/>
          </p:cNvPicPr>
          <p:nvPr/>
        </p:nvPicPr>
        <p:blipFill>
          <a:blip r:embed="rId2"/>
          <a:stretch>
            <a:fillRect/>
          </a:stretch>
        </p:blipFill>
        <p:spPr>
          <a:xfrm>
            <a:off x="640080" y="1371600"/>
            <a:ext cx="640080" cy="640080"/>
          </a:xfrm>
          <a:prstGeom prst="rect">
            <a:avLst/>
          </a:prstGeom>
        </p:spPr>
      </p:pic>
      <p:sp>
        <p:nvSpPr>
          <p:cNvPr id="3" name="Text 0"/>
          <p:cNvSpPr/>
          <p:nvPr/>
        </p:nvSpPr>
        <p:spPr>
          <a:xfrm>
            <a:off x="640080" y="2194560"/>
            <a:ext cx="10332720" cy="201168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Arial" pitchFamily="34" charset="0"/>
                <a:ea typeface="Arial" pitchFamily="34" charset="-122"/>
                <a:cs typeface="Arial" pitchFamily="34" charset="-120"/>
              </a:rPr>
              <a:t>A 14-year-old in rural Africa deserves the same education as an elite school student.</a:t>
            </a:r>
            <a:endParaRPr lang="en-US" sz="3800" dirty="0"/>
          </a:p>
        </p:txBody>
      </p:sp>
      <p:sp>
        <p:nvSpPr>
          <p:cNvPr id="4" name="Text 1"/>
          <p:cNvSpPr/>
          <p:nvPr/>
        </p:nvSpPr>
        <p:spPr>
          <a:xfrm>
            <a:off x="640080" y="4480560"/>
            <a:ext cx="9601200" cy="548640"/>
          </a:xfrm>
          <a:prstGeom prst="rect">
            <a:avLst/>
          </a:prstGeom>
          <a:noFill/>
          <a:ln/>
        </p:spPr>
        <p:txBody>
          <a:bodyPr wrap="square" lIns="0" tIns="0" rIns="0" bIns="0" rtlCol="0" anchor="ctr"/>
          <a:lstStyle/>
          <a:p>
            <a:pPr indent="0" marL="0">
              <a:buNone/>
            </a:pPr>
            <a:r>
              <a:rPr lang="en-US" sz="1800" i="1" dirty="0">
                <a:solidFill>
                  <a:srgbClr val="EDE9FE"/>
                </a:solidFill>
              </a:rPr>
              <a:t>Talent is universal. Access isn't. LearnBridge exists to close that gap.</a:t>
            </a:r>
            <a:endParaRPr lang="en-US" sz="1800" dirty="0"/>
          </a:p>
        </p:txBody>
      </p:sp>
      <p:pic>
        <p:nvPicPr>
          <p:cNvPr id="5" name="Image 1" descr="assets/logo_sq.png">    </p:cNvPr>
          <p:cNvPicPr>
            <a:picLocks noChangeAspect="1"/>
          </p:cNvPicPr>
          <p:nvPr/>
        </p:nvPicPr>
        <p:blipFill>
          <a:blip r:embed="rId3"/>
          <a:stretch>
            <a:fillRect/>
          </a:stretch>
        </p:blipFill>
        <p:spPr>
          <a:xfrm>
            <a:off x="640080" y="5715000"/>
            <a:ext cx="457200" cy="457200"/>
          </a:xfrm>
          <a:prstGeom prst="rect">
            <a:avLst/>
          </a:prstGeom>
        </p:spPr>
      </p:pic>
      <p:sp>
        <p:nvSpPr>
          <p:cNvPr id="6" name="Text 2"/>
          <p:cNvSpPr/>
          <p:nvPr/>
        </p:nvSpPr>
        <p:spPr>
          <a:xfrm>
            <a:off x="640080" y="57150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L</a:t>
            </a:r>
            <a:endParaRPr lang="en-US" sz="2000" dirty="0"/>
          </a:p>
        </p:txBody>
      </p:sp>
      <p:sp>
        <p:nvSpPr>
          <p:cNvPr id="7" name="Text 3"/>
          <p:cNvSpPr/>
          <p:nvPr/>
        </p:nvSpPr>
        <p:spPr>
          <a:xfrm>
            <a:off x="1207008" y="5715000"/>
            <a:ext cx="3657600" cy="457200"/>
          </a:xfrm>
          <a:prstGeom prst="rect">
            <a:avLst/>
          </a:prstGeom>
          <a:noFill/>
          <a:ln/>
        </p:spPr>
        <p:txBody>
          <a:bodyPr wrap="square" lIns="0" tIns="0" rIns="0" bIns="0" rtlCol="0" anchor="ctr"/>
          <a:lstStyle/>
          <a:p>
            <a:pPr indent="0" marL="0">
              <a:buNone/>
            </a:pPr>
            <a:r>
              <a:rPr lang="en-US" sz="1800" b="1" dirty="0">
                <a:solidFill>
                  <a:srgbClr val="FFFFFF"/>
                </a:solidFill>
              </a:rPr>
              <a:t>LearnBridge</a:t>
            </a:r>
            <a:endParaRPr lang="en-US" sz="1800" dirty="0"/>
          </a:p>
        </p:txBody>
      </p:sp>
      <p:sp>
        <p:nvSpPr>
          <p:cNvPr id="8" name="Text 4"/>
          <p:cNvSpPr/>
          <p:nvPr/>
        </p:nvSpPr>
        <p:spPr>
          <a:xfrm>
            <a:off x="6062472" y="5852160"/>
            <a:ext cx="5486400" cy="365760"/>
          </a:xfrm>
          <a:prstGeom prst="rect">
            <a:avLst/>
          </a:prstGeom>
          <a:noFill/>
          <a:ln/>
        </p:spPr>
        <p:txBody>
          <a:bodyPr wrap="square" lIns="0" tIns="0" rIns="0" bIns="0" rtlCol="0" anchor="ctr"/>
          <a:lstStyle/>
          <a:p>
            <a:pPr algn="r" indent="0" marL="0">
              <a:buNone/>
            </a:pPr>
            <a:r>
              <a:rPr lang="en-US" sz="1300" dirty="0">
                <a:solidFill>
                  <a:srgbClr val="E0E7FF"/>
                </a:solidFill>
              </a:rPr>
              <a:t>learnbridge-eshaank08s-projects.vercel.app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LearnBridge — Product Overview</dc:title>
  <dc:subject>PptxGenJS Presentation</dc:subject>
  <dc:creator>LearnBridge</dc:creator>
  <cp:lastModifiedBy>LearnBridge</cp:lastModifiedBy>
  <cp:revision>1</cp:revision>
  <dcterms:created xsi:type="dcterms:W3CDTF">2026-06-12T14:24:03Z</dcterms:created>
  <dcterms:modified xsi:type="dcterms:W3CDTF">2026-06-12T14:24:03Z</dcterms:modified>
</cp:coreProperties>
</file>